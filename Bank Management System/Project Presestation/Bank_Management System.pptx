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4" r:id="rId22"/>
    <p:sldId id="275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0F4F7"/>
    <a:srgbClr val="FFFCF2"/>
    <a:srgbClr val="B4A700"/>
    <a:srgbClr val="D4CD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551180-904E-416D-9544-DB16A52AFAB2}" v="175" dt="2025-11-21T17:53:27.5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8" d="100"/>
          <a:sy n="78" d="100"/>
        </p:scale>
        <p:origin x="14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217F78-CC40-4C5B-AB4C-208F3E78241A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2C66D-32D2-4B0D-83D5-35AD7794FC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317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32C66D-32D2-4B0D-83D5-35AD7794FCC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08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1D9D6-9FD4-1EE9-F250-D5A4D436C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902C6-FC55-A983-4DC5-933137549E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73FC96-BF87-FE07-6FDD-F432AF3EE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E1F3-375A-7BEB-604F-F84B12A2E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4128C-CB77-BD5D-059D-DA52E12AE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AC75D-A206-3851-FD34-77C63375C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66595-A7DE-7E98-677B-33DF55415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0C7F87-AB2D-E7D7-504B-5B2BB0050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BEF2D-CE05-32B8-516C-3A33F1D8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769E8-F0B7-BDE9-0D76-C458CDBFE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56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EC6E3-417E-F654-388F-0243ECFD5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968DA6-042B-7499-2178-9ADDD8BEC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E668F-F9F2-7F6C-48C6-D8DB47A0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793BAB-A862-02B4-933B-190AE997C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FE662-4D76-5121-5ED6-F8EF86B10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8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153CA-F117-EBBC-3221-3D925ED47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59C72-7871-F36F-9EF8-638C7D86E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F41F9D-1191-6549-1E74-480B15C237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6A9D7F-445E-573F-CD52-246B4D580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C58BB-8A90-B5B5-6208-A18DFE5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F1B23-25A3-0049-3F32-ED11AC37C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44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B48D-BA11-EE71-701D-38CC2F202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A3C0C5-9B19-F3C4-D9F7-9AAB62E45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C08247-E8B4-611B-AD97-2B2E9A66EC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C8EAD-ED26-0310-6EFB-2A85AE448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0A189E-2383-68A5-0117-6A867106E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410E0-3CF8-52B6-7BDE-F023AA46B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E6470-9D62-CD06-3041-7469AD46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1C9688-246C-A60C-C4CB-BF86A8D2C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682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FB1C0-0C86-B147-D41B-09A448BA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E7F331-09FB-EC3D-8E6D-22EEB6EC6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02271D-B9C2-C68A-C531-7235AB819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F24BC-75DF-FB2D-9ADB-C5E1BE480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07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FA0296-B3B5-B453-12C0-8C93E68C3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DEB00F-06D7-E1AD-480F-BE010C7A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AB751C-B232-DE55-F343-D67A83D81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282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866C-DDEA-7D89-8641-5FDE6CCC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A25E8-7908-C2A9-096B-6A38373C7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C807D1-E5D3-054F-1786-039ACD08D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BEC1F-D559-546A-52B4-A69B57612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48D05-9963-A580-8479-098C09E73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C616D-5DC8-5963-25AD-5C03F970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0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7C592-EA52-84DE-47BE-3B4A5C422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570F9-CC64-BD36-EA40-B5B93E1DEB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B37337-2053-387D-ED30-09F0E6BBB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42D4AE-2AD7-169A-DC73-505F858DC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89C92-6298-3DC7-12A1-6709DE29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F8332A-1D55-1042-C83D-6E404D1B7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44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4BCA9-77FE-6096-C8B9-ACF4143C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96298-8974-4107-C9A5-1034FDF28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63C68-89E9-8E7E-D4DD-667FDB18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2549D-0E79-5F5B-3688-0088BFD49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72CE8B-3A44-1A5C-456E-DAA5E5C5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101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C2B7D5-CEB4-38B7-9D15-3D37E5DFAA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7EFC8-CF1B-F90D-0DF4-11525C4109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054DF-B32F-032F-B8E1-C5CC5721C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AFA3F2-6341-C272-C63B-8243CF57A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2DC4B-39A1-A5A5-A78F-5CA2154C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48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E6314-84AA-4206-B4AE-9E311910D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E189A-0C52-4661-7FC2-A2582343C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F6B537-CFBC-BBFD-E7B5-5A1886BCB4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F6834-3B51-41C6-9C96-E2AA3BE6375E}" type="datetimeFigureOut">
              <a:rPr lang="en-US" smtClean="0"/>
              <a:t>11/21/2025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CDEF-8B72-E1FA-0A84-C61482D09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A76B6-73A2-6303-DCA8-20816FD97A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2FEBAF-2007-413A-9F1B-4C9D786BC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84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C3104-2537-4630-96AA-04BB56BF14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6315" y="1523457"/>
            <a:ext cx="6946232" cy="802105"/>
          </a:xfrm>
        </p:spPr>
        <p:txBody>
          <a:bodyPr>
            <a:normAutofit fontScale="90000"/>
          </a:bodyPr>
          <a:lstStyle/>
          <a:p>
            <a:pPr algn="l"/>
            <a:r>
              <a:rPr lang="en-US" sz="3200" b="1" dirty="0">
                <a:solidFill>
                  <a:srgbClr val="002060"/>
                </a:solidFill>
              </a:rPr>
              <a:t>Fast NUCES Karachi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sz="2000" dirty="0">
                <a:solidFill>
                  <a:srgbClr val="002060"/>
                </a:solidFill>
              </a:rPr>
              <a:t>Department of AI and Data Science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C261AF-C05C-34BB-7FA5-89AFF89327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0744" y="4337679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156082"/>
                </a:solidFill>
              </a:rPr>
              <a:t>Submitted by: </a:t>
            </a:r>
            <a:r>
              <a:rPr lang="en-US" dirty="0">
                <a:solidFill>
                  <a:srgbClr val="156082"/>
                </a:solidFill>
              </a:rPr>
              <a:t>Naresh Kumar and Syed Zaid Khalid</a:t>
            </a:r>
          </a:p>
          <a:p>
            <a:pPr algn="l"/>
            <a:r>
              <a:rPr lang="en-US" b="1" dirty="0">
                <a:solidFill>
                  <a:srgbClr val="156082"/>
                </a:solidFill>
              </a:rPr>
              <a:t>Instructor: </a:t>
            </a:r>
            <a:r>
              <a:rPr lang="en-US" dirty="0">
                <a:solidFill>
                  <a:srgbClr val="156082"/>
                </a:solidFill>
              </a:rPr>
              <a:t>Sir Jahanzaib</a:t>
            </a:r>
          </a:p>
          <a:p>
            <a:pPr algn="l"/>
            <a:r>
              <a:rPr lang="en-US" b="1" dirty="0">
                <a:solidFill>
                  <a:srgbClr val="156082"/>
                </a:solidFill>
              </a:rPr>
              <a:t>Date: </a:t>
            </a:r>
            <a:r>
              <a:rPr lang="en-US" dirty="0">
                <a:solidFill>
                  <a:srgbClr val="156082"/>
                </a:solidFill>
              </a:rPr>
              <a:t>November 24, 2025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A0118E-8790-E9A1-6045-88F3BE10CBC2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FAST National University of Computer &amp; Emerging Sciences</a:t>
            </a:r>
          </a:p>
        </p:txBody>
      </p:sp>
      <p:pic>
        <p:nvPicPr>
          <p:cNvPr id="6" name="Picture 5" descr="A blue circle with white text and a green and yellow letter&#10;&#10;AI-generated content may be incorrect.">
            <a:extLst>
              <a:ext uri="{FF2B5EF4-FFF2-40B4-BE49-F238E27FC236}">
                <a16:creationId xmlns:a16="http://schemas.microsoft.com/office/drawing/2014/main" id="{2E3A6EE6-9B55-BBD1-6034-9F125000A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55" y="1199189"/>
            <a:ext cx="1399089" cy="1399089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7F707B-D26E-B574-ED5B-96EF41E4E66F}"/>
              </a:ext>
            </a:extLst>
          </p:cNvPr>
          <p:cNvCxnSpPr/>
          <p:nvPr/>
        </p:nvCxnSpPr>
        <p:spPr>
          <a:xfrm>
            <a:off x="1524000" y="2983832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8D05DC3-4600-A70A-1EEA-60FE4D1CF5F9}"/>
              </a:ext>
            </a:extLst>
          </p:cNvPr>
          <p:cNvSpPr txBox="1"/>
          <p:nvPr/>
        </p:nvSpPr>
        <p:spPr>
          <a:xfrm>
            <a:off x="1410744" y="3105834"/>
            <a:ext cx="5730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156082"/>
                </a:solidFill>
              </a:rPr>
              <a:t>Bank Management System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A8D46-7E6B-1300-1CD9-4868D7F15E7E}"/>
              </a:ext>
            </a:extLst>
          </p:cNvPr>
          <p:cNvSpPr txBox="1"/>
          <p:nvPr/>
        </p:nvSpPr>
        <p:spPr>
          <a:xfrm>
            <a:off x="1410744" y="3874166"/>
            <a:ext cx="6460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156082"/>
                </a:solidFill>
              </a:rPr>
              <a:t>Course: </a:t>
            </a:r>
            <a:r>
              <a:rPr lang="en-US" sz="2400" dirty="0">
                <a:solidFill>
                  <a:srgbClr val="156082"/>
                </a:solidFill>
              </a:rPr>
              <a:t>Programming Fundamentals</a:t>
            </a:r>
          </a:p>
        </p:txBody>
      </p:sp>
    </p:spTree>
    <p:extLst>
      <p:ext uri="{BB962C8B-B14F-4D97-AF65-F5344CB8AC3E}">
        <p14:creationId xmlns:p14="http://schemas.microsoft.com/office/powerpoint/2010/main" val="19232171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DC0B3-25D6-D240-A214-480E65FD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4F0B8-8C33-1E4D-C218-4A9F23A39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32" y="802105"/>
            <a:ext cx="6946232" cy="80210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002060"/>
                </a:solidFill>
              </a:rPr>
              <a:t>Abstract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3A634A-C91F-3FEF-195F-F91DDA5AEBE2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FAST National University of Computer &amp; Emerging Sciences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32611C8-1D40-209F-B742-E43BDD7EE1B5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3965B91-32CB-6B22-FA77-67615A1A35AA}"/>
              </a:ext>
            </a:extLst>
          </p:cNvPr>
          <p:cNvSpPr txBox="1"/>
          <p:nvPr/>
        </p:nvSpPr>
        <p:spPr>
          <a:xfrm>
            <a:off x="513346" y="1934725"/>
            <a:ext cx="5582653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600" b="1" i="0" dirty="0">
                <a:solidFill>
                  <a:srgbClr val="19376D"/>
                </a:solidFill>
                <a:effectLst/>
                <a:latin typeface="Montserrat" panose="00000500000000000000" pitchFamily="2" charset="0"/>
              </a:rPr>
              <a:t>System Overview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Desktop GUI banking system developed in C with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Raylib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library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Comprehensive account management and financial operations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Persistent storage using structured text files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Professional interface with state-based navigation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1DCFC9-F6A4-D4F5-3FE6-D37184462030}"/>
              </a:ext>
            </a:extLst>
          </p:cNvPr>
          <p:cNvSpPr txBox="1"/>
          <p:nvPr/>
        </p:nvSpPr>
        <p:spPr>
          <a:xfrm>
            <a:off x="6095999" y="1947711"/>
            <a:ext cx="5967664" cy="2213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50"/>
              </a:spcAft>
            </a:pPr>
            <a:r>
              <a:rPr lang="en-US" b="1" dirty="0">
                <a:solidFill>
                  <a:srgbClr val="19376D"/>
                </a:solidFill>
                <a:latin typeface="Montserrat" panose="00000500000000000000" pitchFamily="2" charset="0"/>
              </a:rPr>
              <a:t>Key Features</a:t>
            </a:r>
          </a:p>
          <a:p>
            <a:pPr marL="285750" indent="-285750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anose="00000500000000000000" pitchFamily="2" charset="0"/>
              </a:rPr>
              <a:t>Account creation with validation and unique identifiers</a:t>
            </a:r>
          </a:p>
          <a:p>
            <a:pPr marL="285750" indent="-285750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anose="00000500000000000000" pitchFamily="2" charset="0"/>
              </a:rPr>
              <a:t>Secure login with mobile number and password</a:t>
            </a:r>
          </a:p>
          <a:p>
            <a:pPr marL="285750" indent="-285750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anose="00000500000000000000" pitchFamily="2" charset="0"/>
              </a:rPr>
              <a:t>Deposit and withdrawal with security verification</a:t>
            </a:r>
          </a:p>
          <a:p>
            <a:pPr marL="285750" indent="-285750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000000"/>
                </a:solidFill>
                <a:latin typeface="Montserrat" panose="00000500000000000000" pitchFamily="2" charset="0"/>
              </a:rPr>
              <a:t>Transaction history with PKT timestamps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839415-F047-8A1C-7AAA-97AA985468AB}"/>
              </a:ext>
            </a:extLst>
          </p:cNvPr>
          <p:cNvSpPr txBox="1"/>
          <p:nvPr/>
        </p:nvSpPr>
        <p:spPr>
          <a:xfrm>
            <a:off x="513346" y="4109919"/>
            <a:ext cx="5374107" cy="1718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19376D"/>
                </a:solidFill>
                <a:effectLst/>
                <a:latin typeface="Montserrat" panose="00000500000000000000" pitchFamily="2" charset="0"/>
              </a:rPr>
              <a:t>Technology Stack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C programming language with modular functions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Raylib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GUI library for interface elements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Buttons, </a:t>
            </a:r>
            <a:r>
              <a:rPr lang="en-US" sz="1400" b="0" i="0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TextBoxes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, and rounded components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File I/O for data persistence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D313F7-2B2E-8688-E8FF-8BB96015C50D}"/>
              </a:ext>
            </a:extLst>
          </p:cNvPr>
          <p:cNvSpPr txBox="1"/>
          <p:nvPr/>
        </p:nvSpPr>
        <p:spPr>
          <a:xfrm>
            <a:off x="6095999" y="4174039"/>
            <a:ext cx="6152146" cy="1654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19376D"/>
                </a:solidFill>
                <a:effectLst/>
                <a:latin typeface="Montserrat" panose="00000500000000000000" pitchFamily="2" charset="0"/>
              </a:rPr>
              <a:t>System Capabilities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Multiple accounts with unique identifiers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Enhanced security for large withdrawals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Profile management and information updates</a:t>
            </a:r>
          </a:p>
          <a:p>
            <a:pPr marL="285750" indent="-285750" algn="l">
              <a:spcAft>
                <a:spcPts val="1050"/>
              </a:spcAft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Full transaction logging and history viewing</a:t>
            </a:r>
          </a:p>
        </p:txBody>
      </p:sp>
    </p:spTree>
    <p:extLst>
      <p:ext uri="{BB962C8B-B14F-4D97-AF65-F5344CB8AC3E}">
        <p14:creationId xmlns:p14="http://schemas.microsoft.com/office/powerpoint/2010/main" val="159443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EB750-29E7-A299-8DA3-567411CC9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37246-F6DC-F6F2-9E7C-A4BCE1F669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32" y="802105"/>
            <a:ext cx="6946232" cy="80210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18C66D-D040-69DF-1260-1F244A8F37AC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Introduction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F99B41-9DB6-826E-FF6A-DF1B135D373F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502C263-7275-DB0D-28AA-287E58DF5BF4}"/>
              </a:ext>
            </a:extLst>
          </p:cNvPr>
          <p:cNvSpPr txBox="1"/>
          <p:nvPr/>
        </p:nvSpPr>
        <p:spPr>
          <a:xfrm>
            <a:off x="513346" y="1767002"/>
            <a:ext cx="558265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Banking Automation Evolution</a:t>
            </a:r>
          </a:p>
          <a:p>
            <a:pPr marL="285750" indent="-285750">
              <a:buClr>
                <a:srgbClr val="B4A700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dirty="0"/>
              <a:t>Banking has rapidly adopted automation technologies to enhance efficiency</a:t>
            </a:r>
          </a:p>
          <a:p>
            <a:pPr marL="285750" indent="-285750">
              <a:buClr>
                <a:srgbClr val="B4A700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dirty="0"/>
              <a:t>Digital transformation has improved accuracy, speed, and accessibility</a:t>
            </a:r>
          </a:p>
          <a:p>
            <a:pPr marL="285750" indent="-285750">
              <a:buClr>
                <a:srgbClr val="B4A700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dirty="0"/>
              <a:t>Modern banking systems integrate multiple services into cohesive platforms</a:t>
            </a:r>
          </a:p>
          <a:p>
            <a:pPr marL="285750" indent="-285750">
              <a:buClr>
                <a:srgbClr val="B4A700"/>
              </a:buClr>
              <a:buSzPct val="106000"/>
              <a:buFont typeface="Arial" panose="020B0604020202020204" pitchFamily="34" charset="0"/>
              <a:buChar char="•"/>
            </a:pPr>
            <a:r>
              <a:rPr lang="en-US" dirty="0"/>
              <a:t>Security and user experience are paramount in financial software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9E66FF-9E10-113E-0E0E-6C19256D1DE1}"/>
              </a:ext>
            </a:extLst>
          </p:cNvPr>
          <p:cNvSpPr txBox="1"/>
          <p:nvPr/>
        </p:nvSpPr>
        <p:spPr>
          <a:xfrm>
            <a:off x="6095999" y="1852461"/>
            <a:ext cx="59676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Project Motivation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Create a functional banking system to demonstrate programming skills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Model real-world banking workflows in a simplified interface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Bridge theoretical concepts with practical application development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Address the challenge of building secure financial software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EE9DEF-8964-888B-C482-D533C2C6A30B}"/>
              </a:ext>
            </a:extLst>
          </p:cNvPr>
          <p:cNvSpPr txBox="1"/>
          <p:nvPr/>
        </p:nvSpPr>
        <p:spPr>
          <a:xfrm>
            <a:off x="513346" y="4376619"/>
            <a:ext cx="537410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Learning Focus</a:t>
            </a:r>
          </a:p>
          <a:p>
            <a:pPr marL="285750" indent="-285750">
              <a:buClr>
                <a:srgbClr val="B4A700"/>
              </a:buClr>
              <a:buFont typeface="Aptos" panose="020B0004020202020204" pitchFamily="34" charset="0"/>
              <a:buChar char="•"/>
            </a:pPr>
            <a:r>
              <a:rPr lang="en-US" dirty="0"/>
              <a:t>Master fundamental programming concepts in C language</a:t>
            </a:r>
          </a:p>
          <a:p>
            <a:pPr marL="285750" indent="-285750">
              <a:buClr>
                <a:srgbClr val="B4A700"/>
              </a:buClr>
              <a:buFont typeface="Aptos" panose="020B0004020202020204" pitchFamily="34" charset="0"/>
              <a:buChar char="•"/>
            </a:pPr>
            <a:r>
              <a:rPr lang="en-US" dirty="0"/>
              <a:t>Variables, arrays, strings, conditionals, loops</a:t>
            </a:r>
          </a:p>
          <a:p>
            <a:pPr marL="285750" indent="-285750">
              <a:buClr>
                <a:srgbClr val="B4A700"/>
              </a:buClr>
              <a:buFont typeface="Aptos" panose="020B0004020202020204" pitchFamily="34" charset="0"/>
              <a:buChar char="•"/>
            </a:pPr>
            <a:r>
              <a:rPr lang="en-US" dirty="0"/>
              <a:t>Implement data persistence via file handling</a:t>
            </a:r>
          </a:p>
          <a:p>
            <a:pPr marL="285750" indent="-285750">
              <a:buClr>
                <a:srgbClr val="B4A700"/>
              </a:buClr>
              <a:buFont typeface="Aptos" panose="020B0004020202020204" pitchFamily="34" charset="0"/>
              <a:buChar char="•"/>
            </a:pPr>
            <a:r>
              <a:rPr lang="en-US" dirty="0"/>
              <a:t>Apply modular programming techniques</a:t>
            </a:r>
          </a:p>
          <a:p>
            <a:pPr marL="285750" indent="-285750">
              <a:buClr>
                <a:srgbClr val="B4A700"/>
              </a:buClr>
              <a:buFont typeface="Aptos" panose="020B0004020202020204" pitchFamily="34" charset="0"/>
              <a:buChar char="•"/>
            </a:pPr>
            <a:r>
              <a:rPr lang="en-US" dirty="0"/>
              <a:t>Develop state-based GUI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BE07B3-4E32-8055-1760-1A8D326C8D94}"/>
              </a:ext>
            </a:extLst>
          </p:cNvPr>
          <p:cNvSpPr txBox="1"/>
          <p:nvPr/>
        </p:nvSpPr>
        <p:spPr>
          <a:xfrm>
            <a:off x="6095999" y="4515118"/>
            <a:ext cx="615214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Project Outcome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Functional banking application with complete user journey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Persistent data storage for accounts and transactions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Security features for sensitive operations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Clean, intuitive user experience with proper feedback</a:t>
            </a:r>
          </a:p>
        </p:txBody>
      </p:sp>
    </p:spTree>
    <p:extLst>
      <p:ext uri="{BB962C8B-B14F-4D97-AF65-F5344CB8AC3E}">
        <p14:creationId xmlns:p14="http://schemas.microsoft.com/office/powerpoint/2010/main" val="6426953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A4E54-B595-CAB9-2F05-769DA5F70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1C554-1913-73EA-A04E-426EAD0170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32" y="830160"/>
            <a:ext cx="3692868" cy="689812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Project 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0C1439-35CE-DDFD-B037-5F7D4B89688C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Project Objectives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7A2D87-08ED-99EB-6784-48F91B1F9EA6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D2282CF-B67F-E314-0B5D-F6658DD336C2}"/>
              </a:ext>
            </a:extLst>
          </p:cNvPr>
          <p:cNvSpPr txBox="1"/>
          <p:nvPr/>
        </p:nvSpPr>
        <p:spPr>
          <a:xfrm>
            <a:off x="513346" y="1934725"/>
            <a:ext cx="60779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1. Digitalized Account Management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Create a system for efficient management of multiple bank accounts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Support account creation with unique identifiers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Enable profile updates and account deletion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ED0EB5-115F-E19C-E639-2D2A8841FB0E}"/>
              </a:ext>
            </a:extLst>
          </p:cNvPr>
          <p:cNvSpPr txBox="1"/>
          <p:nvPr/>
        </p:nvSpPr>
        <p:spPr>
          <a:xfrm>
            <a:off x="6448424" y="2073224"/>
            <a:ext cx="59676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2. Essential Banking Operations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 secure login authentication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Support deposit and withdrawal transactions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Provide balance inquiry functionality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503144-4482-B143-0A85-A03402AD491C}"/>
              </a:ext>
            </a:extLst>
          </p:cNvPr>
          <p:cNvSpPr txBox="1"/>
          <p:nvPr/>
        </p:nvSpPr>
        <p:spPr>
          <a:xfrm>
            <a:off x="513346" y="3580529"/>
            <a:ext cx="5374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3. Data Persistence &amp; File Handling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Store account details in structured text files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Record transaction history with timestamps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Ensure data integrity during operations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FC9904-3027-4579-AC07-1D345E2A1F5A}"/>
              </a:ext>
            </a:extLst>
          </p:cNvPr>
          <p:cNvSpPr txBox="1"/>
          <p:nvPr/>
        </p:nvSpPr>
        <p:spPr>
          <a:xfrm>
            <a:off x="6448424" y="3412052"/>
            <a:ext cx="6152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4. User-Friendly Interface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Design intuitive menu-based navigation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 responsive GUI with buttons and text inputs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Provide clear feedback on user actions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E17197-1BB1-4185-D2B9-0F8E8D10486C}"/>
              </a:ext>
            </a:extLst>
          </p:cNvPr>
          <p:cNvSpPr txBox="1"/>
          <p:nvPr/>
        </p:nvSpPr>
        <p:spPr>
          <a:xfrm>
            <a:off x="513345" y="4949334"/>
            <a:ext cx="61521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5. Programming Fundamentals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Apply loops, arrays, pointers, and string manipulation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 file I/O operations and error handling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Utilize functions for modular code organization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8CF8A-5229-F9CE-0C16-13D90A53FE7F}"/>
              </a:ext>
            </a:extLst>
          </p:cNvPr>
          <p:cNvSpPr txBox="1"/>
          <p:nvPr/>
        </p:nvSpPr>
        <p:spPr>
          <a:xfrm>
            <a:off x="6448424" y="4949334"/>
            <a:ext cx="5374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6. Secure System Architecture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 verification for large transactions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Store credentials with basic security measures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Build a state-driven program architecture</a:t>
            </a:r>
          </a:p>
        </p:txBody>
      </p:sp>
    </p:spTree>
    <p:extLst>
      <p:ext uri="{BB962C8B-B14F-4D97-AF65-F5344CB8AC3E}">
        <p14:creationId xmlns:p14="http://schemas.microsoft.com/office/powerpoint/2010/main" val="32865272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C16C9-1EF6-EAB5-9934-531B38B6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9F724-E553-1E35-3718-9CD3D3FB99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346" y="689689"/>
            <a:ext cx="9752774" cy="802106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System Architecture &amp; Design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7C3A14-6FD5-D302-8F35-F468A751926C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System Architecture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F89C24-2D22-3ADD-5B1A-245CC787F760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826BC9C-718D-27C6-A8AE-0B3C4BDEC46C}"/>
              </a:ext>
            </a:extLst>
          </p:cNvPr>
          <p:cNvSpPr txBox="1"/>
          <p:nvPr/>
        </p:nvSpPr>
        <p:spPr>
          <a:xfrm>
            <a:off x="785746" y="1680539"/>
            <a:ext cx="26374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/>
                </a:solidFill>
              </a:rPr>
              <a:t>System Components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DD0C699-BBC0-DC52-F54D-D0498561B2C0}"/>
              </a:ext>
            </a:extLst>
          </p:cNvPr>
          <p:cNvSpPr/>
          <p:nvPr/>
        </p:nvSpPr>
        <p:spPr>
          <a:xfrm>
            <a:off x="802932" y="2090799"/>
            <a:ext cx="2770001" cy="590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User Interface Layer</a:t>
            </a:r>
          </a:p>
          <a:p>
            <a:r>
              <a:rPr lang="en-US" dirty="0"/>
              <a:t>(</a:t>
            </a:r>
            <a:r>
              <a:rPr lang="en-US" dirty="0" err="1"/>
              <a:t>Raylib</a:t>
            </a:r>
            <a:r>
              <a:rPr lang="en-US" dirty="0"/>
              <a:t> GUI)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A84B3B-F861-510D-2F17-AA083D963AFB}"/>
              </a:ext>
            </a:extLst>
          </p:cNvPr>
          <p:cNvSpPr/>
          <p:nvPr/>
        </p:nvSpPr>
        <p:spPr>
          <a:xfrm>
            <a:off x="818976" y="2784952"/>
            <a:ext cx="2753958" cy="590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State Management</a:t>
            </a:r>
          </a:p>
          <a:p>
            <a:r>
              <a:rPr lang="en-US" dirty="0"/>
              <a:t>(Enum State)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4472F6-8A1B-B446-587D-5962AF49535F}"/>
              </a:ext>
            </a:extLst>
          </p:cNvPr>
          <p:cNvSpPr/>
          <p:nvPr/>
        </p:nvSpPr>
        <p:spPr>
          <a:xfrm>
            <a:off x="818976" y="3492783"/>
            <a:ext cx="2753957" cy="590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Business Logic</a:t>
            </a:r>
          </a:p>
          <a:p>
            <a:r>
              <a:rPr lang="en-US" dirty="0"/>
              <a:t>(Account Operations)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978BE11-EEDB-5BAF-1926-F3A0C52AF218}"/>
              </a:ext>
            </a:extLst>
          </p:cNvPr>
          <p:cNvSpPr/>
          <p:nvPr/>
        </p:nvSpPr>
        <p:spPr>
          <a:xfrm>
            <a:off x="785746" y="4277264"/>
            <a:ext cx="2753957" cy="5903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Data Persistence</a:t>
            </a:r>
          </a:p>
          <a:p>
            <a:r>
              <a:rPr lang="en-US" dirty="0"/>
              <a:t>(File I/O)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A74707-DEE7-B1C3-5FAC-37D306C67812}"/>
              </a:ext>
            </a:extLst>
          </p:cNvPr>
          <p:cNvSpPr txBox="1"/>
          <p:nvPr/>
        </p:nvSpPr>
        <p:spPr>
          <a:xfrm>
            <a:off x="5254552" y="1890024"/>
            <a:ext cx="32118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State Management &amp; Flow</a:t>
            </a:r>
          </a:p>
          <a:p>
            <a:endParaRPr lang="en-US" b="1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CEA4AD5-D4BB-1AC0-5167-B89683E6274B}"/>
              </a:ext>
            </a:extLst>
          </p:cNvPr>
          <p:cNvSpPr/>
          <p:nvPr/>
        </p:nvSpPr>
        <p:spPr>
          <a:xfrm>
            <a:off x="5237882" y="2380966"/>
            <a:ext cx="1985129" cy="405676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MAIN_MENU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4E2E8D2-ED05-4AD4-854A-6DB8C4D47FA4}"/>
              </a:ext>
            </a:extLst>
          </p:cNvPr>
          <p:cNvSpPr/>
          <p:nvPr/>
        </p:nvSpPr>
        <p:spPr>
          <a:xfrm>
            <a:off x="7462576" y="2368897"/>
            <a:ext cx="2348089" cy="41774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CREATE_ACCOUNT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514B7E-DED5-EA2D-700E-4DD35EC75459}"/>
              </a:ext>
            </a:extLst>
          </p:cNvPr>
          <p:cNvSpPr/>
          <p:nvPr/>
        </p:nvSpPr>
        <p:spPr>
          <a:xfrm>
            <a:off x="10009009" y="2366621"/>
            <a:ext cx="1796716" cy="42229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LOGIN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B9E421-5830-8BCC-F635-5A07063F47DF}"/>
              </a:ext>
            </a:extLst>
          </p:cNvPr>
          <p:cNvSpPr/>
          <p:nvPr/>
        </p:nvSpPr>
        <p:spPr>
          <a:xfrm>
            <a:off x="9484989" y="2921224"/>
            <a:ext cx="2398821" cy="42229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DELETE ACCOUNT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DD8A8E0-ACC4-D6BC-2092-C620B6583317}"/>
              </a:ext>
            </a:extLst>
          </p:cNvPr>
          <p:cNvSpPr/>
          <p:nvPr/>
        </p:nvSpPr>
        <p:spPr>
          <a:xfrm>
            <a:off x="5536531" y="3549401"/>
            <a:ext cx="1796716" cy="42229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WITHDRAW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EC17FA3-CCD9-F1A2-484B-3D3A3EBE59A3}"/>
              </a:ext>
            </a:extLst>
          </p:cNvPr>
          <p:cNvSpPr/>
          <p:nvPr/>
        </p:nvSpPr>
        <p:spPr>
          <a:xfrm>
            <a:off x="5193664" y="2923389"/>
            <a:ext cx="1796716" cy="42229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DEPOSIT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CBB32F3-6724-44DF-6AD7-DF99E7A4A694}"/>
              </a:ext>
            </a:extLst>
          </p:cNvPr>
          <p:cNvSpPr/>
          <p:nvPr/>
        </p:nvSpPr>
        <p:spPr>
          <a:xfrm>
            <a:off x="10050230" y="3454459"/>
            <a:ext cx="1796716" cy="42229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UPDATE_INFO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465C38E-0844-47FD-827E-7AEFD265D2D2}"/>
              </a:ext>
            </a:extLst>
          </p:cNvPr>
          <p:cNvSpPr/>
          <p:nvPr/>
        </p:nvSpPr>
        <p:spPr>
          <a:xfrm>
            <a:off x="7609676" y="3489276"/>
            <a:ext cx="2200989" cy="422295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CHECK_BALANCE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F9CAE6E-E51B-6B94-8422-E35C299C6E44}"/>
              </a:ext>
            </a:extLst>
          </p:cNvPr>
          <p:cNvSpPr/>
          <p:nvPr/>
        </p:nvSpPr>
        <p:spPr>
          <a:xfrm>
            <a:off x="7223011" y="2932399"/>
            <a:ext cx="1796716" cy="417580"/>
          </a:xfrm>
          <a:prstGeom prst="roundRect">
            <a:avLst/>
          </a:prstGeom>
          <a:solidFill>
            <a:srgbClr val="FFFCF2"/>
          </a:solidFill>
          <a:ln>
            <a:solidFill>
              <a:srgbClr val="B4A7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USER_MENU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899BA9-18EF-5734-00FE-16B2C7C7E5DA}"/>
              </a:ext>
            </a:extLst>
          </p:cNvPr>
          <p:cNvSpPr/>
          <p:nvPr/>
        </p:nvSpPr>
        <p:spPr>
          <a:xfrm>
            <a:off x="6230446" y="5462638"/>
            <a:ext cx="5331815" cy="1175084"/>
          </a:xfrm>
          <a:prstGeom prst="roundRect">
            <a:avLst/>
          </a:prstGeom>
          <a:solidFill>
            <a:srgbClr val="F0F4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Program Flow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Start → MAIN_MENU → (CREATE_ACCOUNT | LOGIN)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After LOGIN → USER_MENU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USER_MENU → Various operations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Operations complete → Return to USER_MENU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LOGOUT → Return to MAIN_MENU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D683D79-4C8B-5B09-5329-773851BB7952}"/>
              </a:ext>
            </a:extLst>
          </p:cNvPr>
          <p:cNvSpPr/>
          <p:nvPr/>
        </p:nvSpPr>
        <p:spPr>
          <a:xfrm>
            <a:off x="6197864" y="4300556"/>
            <a:ext cx="5364397" cy="1080068"/>
          </a:xfrm>
          <a:prstGeom prst="roundRect">
            <a:avLst/>
          </a:prstGeom>
          <a:solidFill>
            <a:srgbClr val="F0F4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>
                <a:solidFill>
                  <a:schemeClr val="tx1"/>
                </a:solidFill>
              </a:rPr>
              <a:t>Data Flow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User Input → Validation → Logic Processing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State Changes → UI Updates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Account Operations → File I/O → Persistence</a:t>
            </a:r>
          </a:p>
          <a:p>
            <a:pPr marL="171450" indent="-171450">
              <a:buClr>
                <a:srgbClr val="B4A700"/>
              </a:buClr>
              <a:buFont typeface="Aptos" panose="020B0004020202020204" pitchFamily="34" charset="0"/>
              <a:buChar char="→"/>
            </a:pPr>
            <a:r>
              <a:rPr lang="en-US" sz="1200" dirty="0">
                <a:solidFill>
                  <a:schemeClr val="tx1"/>
                </a:solidFill>
              </a:rPr>
              <a:t>File Reading → Memory → Display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3BF16A2-47C1-721C-4362-5A4E8E24D16D}"/>
              </a:ext>
            </a:extLst>
          </p:cNvPr>
          <p:cNvSpPr/>
          <p:nvPr/>
        </p:nvSpPr>
        <p:spPr>
          <a:xfrm>
            <a:off x="646674" y="5018927"/>
            <a:ext cx="5445348" cy="590342"/>
          </a:xfrm>
          <a:prstGeom prst="roundRect">
            <a:avLst/>
          </a:prstGeom>
          <a:solidFill>
            <a:srgbClr val="F0F4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156082"/>
                </a:solidFill>
              </a:rPr>
              <a:t>UI Components</a:t>
            </a:r>
          </a:p>
          <a:p>
            <a:r>
              <a:rPr lang="en-US" dirty="0">
                <a:solidFill>
                  <a:schemeClr val="tx1"/>
                </a:solidFill>
              </a:rPr>
              <a:t>Buttons, </a:t>
            </a:r>
            <a:r>
              <a:rPr lang="en-US" dirty="0" err="1">
                <a:solidFill>
                  <a:schemeClr val="tx1"/>
                </a:solidFill>
              </a:rPr>
              <a:t>TextBoxes</a:t>
            </a:r>
            <a:r>
              <a:rPr lang="en-US" dirty="0">
                <a:solidFill>
                  <a:schemeClr val="tx1"/>
                </a:solidFill>
              </a:rPr>
              <a:t>, Visual feedback, Dialog screens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56C73F1-A7D3-4B15-484F-8C5AE79BDB71}"/>
              </a:ext>
            </a:extLst>
          </p:cNvPr>
          <p:cNvSpPr/>
          <p:nvPr/>
        </p:nvSpPr>
        <p:spPr>
          <a:xfrm>
            <a:off x="629739" y="5769576"/>
            <a:ext cx="5445348" cy="843815"/>
          </a:xfrm>
          <a:prstGeom prst="roundRect">
            <a:avLst/>
          </a:prstGeom>
          <a:solidFill>
            <a:srgbClr val="F0F4F7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accent1"/>
                </a:solidFill>
              </a:rPr>
              <a:t>Business Logic</a:t>
            </a:r>
          </a:p>
          <a:p>
            <a:r>
              <a:rPr lang="en-US" dirty="0">
                <a:solidFill>
                  <a:schemeClr val="tx1"/>
                </a:solidFill>
              </a:rPr>
              <a:t>Account operations, security verification, transaction logging</a:t>
            </a:r>
          </a:p>
        </p:txBody>
      </p:sp>
    </p:spTree>
    <p:extLst>
      <p:ext uri="{BB962C8B-B14F-4D97-AF65-F5344CB8AC3E}">
        <p14:creationId xmlns:p14="http://schemas.microsoft.com/office/powerpoint/2010/main" val="1555505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58EC4-9230-C268-91C4-D80994C93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D25A2-1688-5D1C-5E62-ED70F9E3D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527" y="691878"/>
            <a:ext cx="5582653" cy="80210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56082"/>
                </a:solidFill>
              </a:rPr>
              <a:t>Technology Stack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E36EB6-C7E5-1325-1223-80BDF8DDD936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Technology Stack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06C974-F73A-3E33-FF22-75D4CF3E6EC2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BEAD0F-A4F0-2563-7C2D-B69BBB1D8495}"/>
              </a:ext>
            </a:extLst>
          </p:cNvPr>
          <p:cNvSpPr txBox="1"/>
          <p:nvPr/>
        </p:nvSpPr>
        <p:spPr>
          <a:xfrm>
            <a:off x="128336" y="1840939"/>
            <a:ext cx="648159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Programming Environment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C Programming Language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Procedural programming with modular functions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Standard libraries: </a:t>
            </a:r>
            <a:r>
              <a:rPr lang="en-US" dirty="0" err="1"/>
              <a:t>stdio.h</a:t>
            </a:r>
            <a:r>
              <a:rPr lang="en-US" dirty="0"/>
              <a:t>, </a:t>
            </a:r>
            <a:r>
              <a:rPr lang="en-US" dirty="0" err="1"/>
              <a:t>string.h</a:t>
            </a:r>
            <a:r>
              <a:rPr lang="en-US" dirty="0"/>
              <a:t>, </a:t>
            </a:r>
            <a:r>
              <a:rPr lang="en-US" dirty="0" err="1"/>
              <a:t>stdlib.h</a:t>
            </a:r>
            <a:r>
              <a:rPr lang="en-US" dirty="0"/>
              <a:t>, </a:t>
            </a:r>
            <a:r>
              <a:rPr lang="en-US" dirty="0" err="1"/>
              <a:t>time.h</a:t>
            </a:r>
            <a:endParaRPr lang="en-US" dirty="0"/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Development Environment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Compiler: GCC (GNU Compiler Collection)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IDEs: Code::Blocks / Dev C++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3B7ECD-B3D1-BCE4-F0B8-7D4698737897}"/>
              </a:ext>
            </a:extLst>
          </p:cNvPr>
          <p:cNvSpPr txBox="1"/>
          <p:nvPr/>
        </p:nvSpPr>
        <p:spPr>
          <a:xfrm>
            <a:off x="5589223" y="1682490"/>
            <a:ext cx="67937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GUI Framework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Raylib</a:t>
            </a:r>
            <a:r>
              <a:rPr lang="en-US" dirty="0"/>
              <a:t> Library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Lightweight cross-platform library for game development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Built-in window and input handling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Custom UI Components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 err="1"/>
              <a:t>TextBox</a:t>
            </a:r>
            <a:r>
              <a:rPr lang="en-US" dirty="0"/>
              <a:t> and Button structs for input and navigation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Professional color scheme (Navy #19376D, Gold #BF9000)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64ED09-A012-0A58-6B68-18CA36D51AE8}"/>
              </a:ext>
            </a:extLst>
          </p:cNvPr>
          <p:cNvSpPr txBox="1"/>
          <p:nvPr/>
        </p:nvSpPr>
        <p:spPr>
          <a:xfrm>
            <a:off x="309726" y="4272677"/>
            <a:ext cx="611881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File Handling System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Text-based Persistence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accounts.txt - CSV format for all user accounts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transactions_*.txt - Transaction logs per account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File Operations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Read/write operations with standard C functions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Line-by-line parsing with string manipulation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6E269-8EDF-6BEC-EC03-0C48FB0BC8CD}"/>
              </a:ext>
            </a:extLst>
          </p:cNvPr>
          <p:cNvSpPr txBox="1"/>
          <p:nvPr/>
        </p:nvSpPr>
        <p:spPr>
          <a:xfrm>
            <a:off x="6134943" y="4290984"/>
            <a:ext cx="624801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Architecture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Event-driven Loop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60 FPS constant update rate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State-based Navigation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Enum-based state management</a:t>
            </a:r>
          </a:p>
          <a:p>
            <a:pPr marL="1200150" lvl="2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Clean separation of concerns between states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b="1" dirty="0"/>
              <a:t>Desktop Application (Windows/Linux)</a:t>
            </a:r>
          </a:p>
        </p:txBody>
      </p:sp>
    </p:spTree>
    <p:extLst>
      <p:ext uri="{BB962C8B-B14F-4D97-AF65-F5344CB8AC3E}">
        <p14:creationId xmlns:p14="http://schemas.microsoft.com/office/powerpoint/2010/main" val="3387230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B4A32-7414-9DCA-57F2-E769C2BE5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77F91-D1EF-D72C-2E8D-4844EBE9A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1" y="847698"/>
            <a:ext cx="7435518" cy="80210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56082"/>
                </a:solidFill>
              </a:rPr>
              <a:t>Key Features Overview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FC3062-E2FD-EDC2-62D3-A5C0735A90BC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Key Features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0011D31-BD14-5F93-EFD8-F2D0EC36DAA6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742010-99E6-F435-60CA-6B4E79BBFB4F}"/>
              </a:ext>
            </a:extLst>
          </p:cNvPr>
          <p:cNvSpPr txBox="1"/>
          <p:nvPr/>
        </p:nvSpPr>
        <p:spPr>
          <a:xfrm>
            <a:off x="513346" y="1934725"/>
            <a:ext cx="558265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Account Lifecycle</a:t>
            </a:r>
          </a:p>
          <a:p>
            <a:pPr marL="285750" indent="-285750">
              <a:buClr>
                <a:srgbClr val="B4A700"/>
              </a:buClr>
              <a:buSzPct val="122000"/>
              <a:buFont typeface="Arial" panose="020B0604020202020204" pitchFamily="34" charset="0"/>
              <a:buChar char="•"/>
            </a:pPr>
            <a:r>
              <a:rPr lang="en-US" dirty="0"/>
              <a:t>Create new accounts with unique account numbers</a:t>
            </a:r>
          </a:p>
          <a:p>
            <a:pPr marL="285750" indent="-285750">
              <a:buClr>
                <a:srgbClr val="B4A700"/>
              </a:buClr>
              <a:buSzPct val="122000"/>
              <a:buFont typeface="Arial" panose="020B0604020202020204" pitchFamily="34" charset="0"/>
              <a:buChar char="•"/>
            </a:pPr>
            <a:r>
              <a:rPr lang="en-US" dirty="0"/>
              <a:t>Update personal information and credentials</a:t>
            </a:r>
          </a:p>
          <a:p>
            <a:pPr marL="285750" indent="-285750">
              <a:buClr>
                <a:srgbClr val="B4A700"/>
              </a:buClr>
              <a:buSzPct val="122000"/>
              <a:buFont typeface="Arial" panose="020B0604020202020204" pitchFamily="34" charset="0"/>
              <a:buChar char="•"/>
            </a:pPr>
            <a:r>
              <a:rPr lang="en-US" dirty="0"/>
              <a:t>Delete account with password verification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CA224-6F8F-4D33-2B13-E279ABA7EC2D}"/>
              </a:ext>
            </a:extLst>
          </p:cNvPr>
          <p:cNvSpPr txBox="1"/>
          <p:nvPr/>
        </p:nvSpPr>
        <p:spPr>
          <a:xfrm>
            <a:off x="6095999" y="1947711"/>
            <a:ext cx="5967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Authentication &amp; Security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Mobile number + password login system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Security verification for withdrawals over 5000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Random security questions based on user data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Password confirmation for critical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043E64-33AA-E59F-B3EC-BFF44DC8F547}"/>
              </a:ext>
            </a:extLst>
          </p:cNvPr>
          <p:cNvSpPr txBox="1"/>
          <p:nvPr/>
        </p:nvSpPr>
        <p:spPr>
          <a:xfrm>
            <a:off x="721892" y="3722947"/>
            <a:ext cx="5374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Banking Operations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Check balance with real-time updates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Deposit with instant balance updates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Withdraw with amount validation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Prevents overdraft; verifies sufficient funds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CB1299-1BB9-8999-E1E5-D187D24EEAF9}"/>
              </a:ext>
            </a:extLst>
          </p:cNvPr>
          <p:cNvSpPr txBox="1"/>
          <p:nvPr/>
        </p:nvSpPr>
        <p:spPr>
          <a:xfrm>
            <a:off x="6095999" y="3722947"/>
            <a:ext cx="5374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Data Persistence &amp; History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Transaction history with PKT timestamps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Individual transaction logs per account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Multi-account support with mobile uniqueness</a:t>
            </a:r>
          </a:p>
          <a:p>
            <a:pPr marL="285750" indent="-285750">
              <a:buClr>
                <a:srgbClr val="B4A700"/>
              </a:buClr>
              <a:buSzPct val="124000"/>
              <a:buFont typeface="Arial" panose="020B0604020202020204" pitchFamily="34" charset="0"/>
              <a:buChar char="•"/>
            </a:pPr>
            <a:r>
              <a:rPr lang="en-US" dirty="0"/>
              <a:t>Seamless menu navigation without program exit</a:t>
            </a:r>
          </a:p>
        </p:txBody>
      </p:sp>
    </p:spTree>
    <p:extLst>
      <p:ext uri="{BB962C8B-B14F-4D97-AF65-F5344CB8AC3E}">
        <p14:creationId xmlns:p14="http://schemas.microsoft.com/office/powerpoint/2010/main" val="4197979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0313F-0C80-A2DB-39BE-5EB2F877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DADF1-6FDD-D196-8AC3-EB0B9845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1" y="1098205"/>
            <a:ext cx="4124829" cy="55159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56082"/>
                </a:solidFill>
              </a:rPr>
              <a:t>Data Structures Used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CCF1AA-38DB-2E0A-BBF5-49EA0EDF424A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Data Structures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EED7740-55C5-5DE4-99C2-DF93644B8391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5E4A97C0-5732-163B-544E-873518BAA5C0}"/>
              </a:ext>
            </a:extLst>
          </p:cNvPr>
          <p:cNvSpPr txBox="1"/>
          <p:nvPr/>
        </p:nvSpPr>
        <p:spPr>
          <a:xfrm>
            <a:off x="7563637" y="1374004"/>
            <a:ext cx="46283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1600" dirty="0"/>
          </a:p>
          <a:p>
            <a:pPr algn="just"/>
            <a:r>
              <a:rPr lang="en-US" sz="1600" b="1" dirty="0">
                <a:solidFill>
                  <a:srgbClr val="156082"/>
                </a:solidFill>
              </a:rPr>
              <a:t>State</a:t>
            </a:r>
            <a:r>
              <a:rPr lang="en-US" sz="1600" dirty="0">
                <a:solidFill>
                  <a:srgbClr val="156082"/>
                </a:solidFill>
              </a:rPr>
              <a:t> - </a:t>
            </a:r>
            <a:r>
              <a:rPr lang="en-US" sz="1200" dirty="0"/>
              <a:t>Application navigation control</a:t>
            </a:r>
          </a:p>
          <a:p>
            <a:r>
              <a:rPr lang="en-US" sz="1200" dirty="0"/>
              <a:t>Controls which screen is currently displayed</a:t>
            </a:r>
          </a:p>
          <a:p>
            <a:r>
              <a:rPr lang="en-US" sz="1200" dirty="0"/>
              <a:t>Enables clean transitions between program modes</a:t>
            </a:r>
          </a:p>
          <a:p>
            <a:r>
              <a:rPr lang="en-US" sz="1200" dirty="0"/>
              <a:t>Used in state machine pattern for UI flow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typedef </a:t>
            </a:r>
            <a:r>
              <a:rPr lang="en-US" sz="1200" b="1" dirty="0" err="1">
                <a:solidFill>
                  <a:schemeClr val="tx2"/>
                </a:solidFill>
              </a:rPr>
              <a:t>enum</a:t>
            </a:r>
            <a:r>
              <a:rPr lang="en-US" sz="1200" b="1" dirty="0">
                <a:solidFill>
                  <a:schemeClr val="tx2"/>
                </a:solidFill>
              </a:rPr>
              <a:t> {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MAIN_MENU,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CREATE_ACCOUNT,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LOGIN,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USER_MENU,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CHECK_BALANCE,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UPDATE_INFO,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DEPOSIT,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DEPOSIT_SUCCESS,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WITHDRAW,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WITHDRAW_VERIFY,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WITHDRAW_SUCCESS,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WITHDRAW_FAILED,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VIEW_HISTORY,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LOGOUT,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    CONFIRM_DELETE</a:t>
            </a:r>
          </a:p>
          <a:p>
            <a:pPr algn="just"/>
            <a:r>
              <a:rPr lang="en-US" sz="1200" b="1" dirty="0">
                <a:solidFill>
                  <a:schemeClr val="tx2"/>
                </a:solidFill>
              </a:rPr>
              <a:t>} State;</a:t>
            </a:r>
          </a:p>
          <a:p>
            <a:pPr algn="just"/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8C9866-D04E-64BD-B291-28612BFD3812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BB10E0-5DA8-EA86-FDE9-FE8EF76FDFE2}"/>
              </a:ext>
            </a:extLst>
          </p:cNvPr>
          <p:cNvSpPr txBox="1"/>
          <p:nvPr/>
        </p:nvSpPr>
        <p:spPr>
          <a:xfrm>
            <a:off x="601607" y="1649803"/>
            <a:ext cx="3384747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Structure Explanations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56082"/>
                </a:solidFill>
              </a:rPr>
              <a:t>Account</a:t>
            </a:r>
            <a:r>
              <a:rPr lang="en-US" sz="1200" dirty="0">
                <a:solidFill>
                  <a:srgbClr val="156082"/>
                </a:solidFill>
              </a:rPr>
              <a:t> - </a:t>
            </a:r>
            <a:r>
              <a:rPr lang="en-US" sz="1200" dirty="0"/>
              <a:t>Core user data structure</a:t>
            </a:r>
          </a:p>
          <a:p>
            <a:r>
              <a:rPr lang="en-US" sz="1200" dirty="0"/>
              <a:t>Contains all personal and financial information</a:t>
            </a:r>
          </a:p>
          <a:p>
            <a:r>
              <a:rPr lang="en-US" sz="1200" dirty="0"/>
              <a:t>Persisted in accounts.txt file</a:t>
            </a:r>
          </a:p>
          <a:p>
            <a:r>
              <a:rPr lang="en-US" sz="1200" dirty="0"/>
              <a:t>Unique identifier: </a:t>
            </a:r>
            <a:r>
              <a:rPr lang="en-US" sz="1200" dirty="0" err="1"/>
              <a:t>account_number</a:t>
            </a:r>
            <a:endParaRPr lang="en-US" sz="1200" dirty="0"/>
          </a:p>
          <a:p>
            <a:r>
              <a:rPr lang="en-US" sz="1200" b="1" dirty="0">
                <a:solidFill>
                  <a:schemeClr val="tx2"/>
                </a:solidFill>
              </a:rPr>
              <a:t>typedef struct {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char name[50];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char </a:t>
            </a:r>
            <a:r>
              <a:rPr lang="en-US" sz="1200" b="1" dirty="0" err="1">
                <a:solidFill>
                  <a:schemeClr val="tx2"/>
                </a:solidFill>
              </a:rPr>
              <a:t>father_name</a:t>
            </a:r>
            <a:r>
              <a:rPr lang="en-US" sz="1200" b="1" dirty="0">
                <a:solidFill>
                  <a:schemeClr val="tx2"/>
                </a:solidFill>
              </a:rPr>
              <a:t>[50];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char </a:t>
            </a:r>
            <a:r>
              <a:rPr lang="en-US" sz="1200" b="1" dirty="0" err="1">
                <a:solidFill>
                  <a:schemeClr val="tx2"/>
                </a:solidFill>
              </a:rPr>
              <a:t>mobile_number</a:t>
            </a:r>
            <a:r>
              <a:rPr lang="en-US" sz="1200" b="1" dirty="0">
                <a:solidFill>
                  <a:schemeClr val="tx2"/>
                </a:solidFill>
              </a:rPr>
              <a:t>[12];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char address[100];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char password[20];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int </a:t>
            </a:r>
            <a:r>
              <a:rPr lang="en-US" sz="1200" b="1" dirty="0" err="1">
                <a:solidFill>
                  <a:schemeClr val="tx2"/>
                </a:solidFill>
              </a:rPr>
              <a:t>account_number</a:t>
            </a:r>
            <a:r>
              <a:rPr lang="en-US" sz="1200" b="1" dirty="0">
                <a:solidFill>
                  <a:schemeClr val="tx2"/>
                </a:solidFill>
              </a:rPr>
              <a:t>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float balance;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} Account;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241F0-0ADA-19F0-8112-145C19A30363}"/>
              </a:ext>
            </a:extLst>
          </p:cNvPr>
          <p:cNvSpPr txBox="1"/>
          <p:nvPr/>
        </p:nvSpPr>
        <p:spPr>
          <a:xfrm>
            <a:off x="3986354" y="1647483"/>
            <a:ext cx="4600575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156082"/>
                </a:solidFill>
              </a:rPr>
              <a:t>TextBox</a:t>
            </a:r>
            <a:r>
              <a:rPr lang="en-US" sz="1600" dirty="0">
                <a:solidFill>
                  <a:srgbClr val="156082"/>
                </a:solidFill>
              </a:rPr>
              <a:t> - </a:t>
            </a:r>
            <a:r>
              <a:rPr lang="en-US" sz="1200" dirty="0"/>
              <a:t>GUI input element</a:t>
            </a:r>
            <a:endParaRPr lang="en-US" sz="1600" dirty="0"/>
          </a:p>
          <a:p>
            <a:r>
              <a:rPr lang="en-US" sz="1200" dirty="0"/>
              <a:t>Handles user text input with validation</a:t>
            </a:r>
          </a:p>
          <a:p>
            <a:r>
              <a:rPr lang="en-US" sz="1200" dirty="0" err="1"/>
              <a:t>numericType</a:t>
            </a:r>
            <a:r>
              <a:rPr lang="en-US" sz="1200" dirty="0"/>
              <a:t> controls input filtering</a:t>
            </a:r>
          </a:p>
          <a:p>
            <a:r>
              <a:rPr lang="en-US" sz="1200" dirty="0"/>
              <a:t>Active state for focus management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typedef struct {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Rectangle </a:t>
            </a:r>
            <a:r>
              <a:rPr lang="en-US" sz="1200" b="1" dirty="0" err="1">
                <a:solidFill>
                  <a:schemeClr val="tx2"/>
                </a:solidFill>
              </a:rPr>
              <a:t>rect</a:t>
            </a:r>
            <a:r>
              <a:rPr lang="en-US" sz="1200" b="1" dirty="0">
                <a:solidFill>
                  <a:schemeClr val="tx2"/>
                </a:solidFill>
              </a:rPr>
              <a:t>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char text[100];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int active;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int </a:t>
            </a:r>
            <a:r>
              <a:rPr lang="en-US" sz="1200" b="1" dirty="0" err="1">
                <a:solidFill>
                  <a:schemeClr val="tx2"/>
                </a:solidFill>
              </a:rPr>
              <a:t>maxLength</a:t>
            </a:r>
            <a:r>
              <a:rPr lang="en-US" sz="1200" b="1" dirty="0">
                <a:solidFill>
                  <a:schemeClr val="tx2"/>
                </a:solidFill>
              </a:rPr>
              <a:t>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int </a:t>
            </a:r>
            <a:r>
              <a:rPr lang="en-US" sz="1200" b="1" dirty="0" err="1">
                <a:solidFill>
                  <a:schemeClr val="tx2"/>
                </a:solidFill>
              </a:rPr>
              <a:t>numericType</a:t>
            </a:r>
            <a:r>
              <a:rPr lang="en-US" sz="1200" b="1" dirty="0">
                <a:solidFill>
                  <a:schemeClr val="tx2"/>
                </a:solidFill>
              </a:rPr>
              <a:t>; // 0=any, 1=digits, 2=decimal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} </a:t>
            </a:r>
            <a:r>
              <a:rPr lang="en-US" sz="1200" b="1" dirty="0" err="1">
                <a:solidFill>
                  <a:schemeClr val="tx2"/>
                </a:solidFill>
              </a:rPr>
              <a:t>TextBox</a:t>
            </a:r>
            <a:r>
              <a:rPr lang="en-US" sz="1200" b="1" dirty="0">
                <a:solidFill>
                  <a:schemeClr val="tx2"/>
                </a:solidFill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04AA5B-4C07-005B-A48C-66EE73BABAF2}"/>
              </a:ext>
            </a:extLst>
          </p:cNvPr>
          <p:cNvSpPr txBox="1"/>
          <p:nvPr/>
        </p:nvSpPr>
        <p:spPr>
          <a:xfrm>
            <a:off x="651252" y="4419792"/>
            <a:ext cx="40329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156082"/>
                </a:solidFill>
              </a:rPr>
              <a:t>Button</a:t>
            </a:r>
            <a:r>
              <a:rPr lang="en-US" sz="1600" dirty="0">
                <a:solidFill>
                  <a:srgbClr val="156082"/>
                </a:solidFill>
              </a:rPr>
              <a:t> - </a:t>
            </a:r>
            <a:r>
              <a:rPr lang="en-US" sz="1200" dirty="0"/>
              <a:t>GUI control element</a:t>
            </a:r>
          </a:p>
          <a:p>
            <a:r>
              <a:rPr lang="en-US" sz="1200" dirty="0"/>
              <a:t>Defines clickable regions for user interaction</a:t>
            </a:r>
          </a:p>
          <a:p>
            <a:r>
              <a:rPr lang="en-US" sz="1200" dirty="0"/>
              <a:t>Color property enables visual state feedback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typedef struct {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Rectangle </a:t>
            </a:r>
            <a:r>
              <a:rPr lang="en-US" sz="1200" b="1" dirty="0" err="1">
                <a:solidFill>
                  <a:schemeClr val="tx2"/>
                </a:solidFill>
              </a:rPr>
              <a:t>rect</a:t>
            </a:r>
            <a:r>
              <a:rPr lang="en-US" sz="1200" b="1" dirty="0">
                <a:solidFill>
                  <a:schemeClr val="tx2"/>
                </a:solidFill>
              </a:rPr>
              <a:t>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const char *text;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    Color </a:t>
            </a:r>
            <a:r>
              <a:rPr lang="en-US" sz="1200" b="1" dirty="0" err="1">
                <a:solidFill>
                  <a:schemeClr val="tx2"/>
                </a:solidFill>
              </a:rPr>
              <a:t>color</a:t>
            </a:r>
            <a:r>
              <a:rPr lang="en-US" sz="1200" b="1" dirty="0">
                <a:solidFill>
                  <a:schemeClr val="tx2"/>
                </a:solidFill>
              </a:rPr>
              <a:t>;</a:t>
            </a:r>
          </a:p>
          <a:p>
            <a:r>
              <a:rPr lang="en-US" sz="1200" b="1" dirty="0">
                <a:solidFill>
                  <a:schemeClr val="tx2"/>
                </a:solidFill>
              </a:rPr>
              <a:t>} Button;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76564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F6088-AEBA-FCF9-806E-A76CB611B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9D36A-02F5-D1D5-D607-1BDFF9BF1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1" y="999472"/>
            <a:ext cx="6982329" cy="55159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Core Functionality: Account Creation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F8F8F3-1511-5AE2-784B-D0E5411F3876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/>
              <a:t>Bank Management System - Account Creation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052EBB6-B79B-7E4B-1EB7-A410DB016B2D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3F2F373-93E3-7252-EBC6-D6CFE8F99DEC}"/>
              </a:ext>
            </a:extLst>
          </p:cNvPr>
          <p:cNvSpPr txBox="1"/>
          <p:nvPr/>
        </p:nvSpPr>
        <p:spPr>
          <a:xfrm>
            <a:off x="7601738" y="1604210"/>
            <a:ext cx="430530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56082"/>
                </a:solidFill>
              </a:rPr>
              <a:t>Account Creation Process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56082"/>
                </a:solidFill>
              </a:rPr>
              <a:t>Unique Account Number Generation</a:t>
            </a:r>
            <a:endParaRPr lang="en-US" sz="1200" dirty="0">
              <a:solidFill>
                <a:srgbClr val="156082"/>
              </a:solidFill>
            </a:endParaRP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Static counter starts at 1000 as a base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Scans existing accounts to prevent duplicates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Ensures sequential numbers by tracking highest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56082"/>
                </a:solidFill>
              </a:rPr>
              <a:t>Form Validation</a:t>
            </a:r>
            <a:endParaRPr lang="en-US" sz="1200" dirty="0">
              <a:solidFill>
                <a:srgbClr val="156082"/>
              </a:solidFill>
            </a:endParaRP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Ensures all required fields are filled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Validates mobile number is exactly 11 digits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Checks for mobile number uniqueness in database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Uses </a:t>
            </a:r>
            <a:r>
              <a:rPr lang="en-US" sz="1200" dirty="0" err="1"/>
              <a:t>TextBox.numericType</a:t>
            </a:r>
            <a:r>
              <a:rPr lang="en-US" sz="1200" dirty="0"/>
              <a:t> for input filtering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56082"/>
                </a:solidFill>
              </a:rPr>
              <a:t>Data Persistence</a:t>
            </a:r>
            <a:endParaRPr lang="en-US" sz="1200" dirty="0">
              <a:solidFill>
                <a:srgbClr val="156082"/>
              </a:solidFill>
            </a:endParaRP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New accounts appended to accounts.txt file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CSV format: name,father,mobile,address,password,acct#,</a:t>
            </a:r>
            <a:r>
              <a:rPr lang="en-US" sz="1200" dirty="0" err="1"/>
              <a:t>bal</a:t>
            </a:r>
            <a:endParaRPr lang="en-US" sz="1200" dirty="0"/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Initial account balance set to 0.0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56082"/>
                </a:solidFill>
              </a:rPr>
              <a:t>User Experience</a:t>
            </a:r>
            <a:endParaRPr lang="en-US" sz="1200" dirty="0">
              <a:solidFill>
                <a:srgbClr val="156082"/>
              </a:solidFill>
            </a:endParaRP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Feedback messages displayed for validation errors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Success message includes new account number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Automatic transition to login screen after creation</a:t>
            </a:r>
          </a:p>
          <a:p>
            <a:pPr marL="628650" lvl="1" indent="-1714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200" dirty="0"/>
              <a:t>Form fields cleared after successful submission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583D4-F782-199F-D420-61C1DCA89623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E6088F-2678-1464-750C-AFAE6E90ED99}"/>
              </a:ext>
            </a:extLst>
          </p:cNvPr>
          <p:cNvSpPr txBox="1"/>
          <p:nvPr/>
        </p:nvSpPr>
        <p:spPr>
          <a:xfrm>
            <a:off x="693973" y="1649804"/>
            <a:ext cx="3384747" cy="14142646"/>
          </a:xfrm>
          <a:prstGeom prst="rect">
            <a:avLst/>
          </a:prstGeom>
          <a:noFill/>
        </p:spPr>
        <p:txBody>
          <a:bodyPr vert="horz" wrap="square" rtlCol="0" anchor="t" anchorCtr="0">
            <a:normAutofit/>
          </a:bodyPr>
          <a:lstStyle/>
          <a:p>
            <a:r>
              <a:rPr lang="en-US" sz="1200" b="1" dirty="0"/>
              <a:t>Key Implementation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int </a:t>
            </a:r>
            <a:r>
              <a:rPr lang="en-US" sz="1200" b="1" dirty="0" err="1">
                <a:solidFill>
                  <a:schemeClr val="accent1"/>
                </a:solidFill>
              </a:rPr>
              <a:t>generateAccountNumber</a:t>
            </a:r>
            <a:r>
              <a:rPr lang="en-US" sz="1200" b="1" dirty="0">
                <a:solidFill>
                  <a:schemeClr val="accent1"/>
                </a:solidFill>
              </a:rPr>
              <a:t>()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static int counter = 1000;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// Find highest account number in file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FILE *file = </a:t>
            </a:r>
            <a:r>
              <a:rPr lang="en-US" sz="1200" b="1" dirty="0" err="1">
                <a:solidFill>
                  <a:schemeClr val="accent1"/>
                </a:solidFill>
              </a:rPr>
              <a:t>fopen</a:t>
            </a:r>
            <a:r>
              <a:rPr lang="en-US" sz="1200" b="1" dirty="0">
                <a:solidFill>
                  <a:schemeClr val="accent1"/>
                </a:solidFill>
              </a:rPr>
              <a:t>(ACCOUNT_FILE, "r");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if (file)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char line[300];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int </a:t>
            </a:r>
            <a:r>
              <a:rPr lang="en-US" sz="1200" b="1" dirty="0" err="1">
                <a:solidFill>
                  <a:schemeClr val="accent1"/>
                </a:solidFill>
              </a:rPr>
              <a:t>maxNum</a:t>
            </a:r>
            <a:r>
              <a:rPr lang="en-US" sz="1200" b="1" dirty="0">
                <a:solidFill>
                  <a:schemeClr val="accent1"/>
                </a:solidFill>
              </a:rPr>
              <a:t> = 1000;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Account acc;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while (</a:t>
            </a:r>
            <a:r>
              <a:rPr lang="en-US" sz="1200" b="1" dirty="0" err="1">
                <a:solidFill>
                  <a:schemeClr val="accent1"/>
                </a:solidFill>
              </a:rPr>
              <a:t>fgets</a:t>
            </a:r>
            <a:r>
              <a:rPr lang="en-US" sz="1200" b="1" dirty="0">
                <a:solidFill>
                  <a:schemeClr val="accent1"/>
                </a:solidFill>
              </a:rPr>
              <a:t>(line, </a:t>
            </a:r>
            <a:r>
              <a:rPr lang="en-US" sz="1200" b="1" dirty="0" err="1">
                <a:solidFill>
                  <a:schemeClr val="accent1"/>
                </a:solidFill>
              </a:rPr>
              <a:t>sizeof</a:t>
            </a:r>
            <a:r>
              <a:rPr lang="en-US" sz="1200" b="1" dirty="0">
                <a:solidFill>
                  <a:schemeClr val="accent1"/>
                </a:solidFill>
              </a:rPr>
              <a:t>(line), file))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if (</a:t>
            </a:r>
            <a:r>
              <a:rPr lang="en-US" sz="1200" b="1" dirty="0" err="1">
                <a:solidFill>
                  <a:schemeClr val="accent1"/>
                </a:solidFill>
              </a:rPr>
              <a:t>sscanf</a:t>
            </a:r>
            <a:r>
              <a:rPr lang="en-US" sz="1200" b="1" dirty="0">
                <a:solidFill>
                  <a:schemeClr val="accent1"/>
                </a:solidFill>
              </a:rPr>
              <a:t>(line, "%49[^,],%49[^,],%11[^,],%99[^,],%19[^,],%</a:t>
            </a:r>
            <a:r>
              <a:rPr lang="en-US" sz="1200" b="1" dirty="0" err="1">
                <a:solidFill>
                  <a:schemeClr val="accent1"/>
                </a:solidFill>
              </a:rPr>
              <a:t>d,%f</a:t>
            </a:r>
            <a:r>
              <a:rPr lang="en-US" sz="1200" b="1" dirty="0">
                <a:solidFill>
                  <a:schemeClr val="accent1"/>
                </a:solidFill>
              </a:rPr>
              <a:t>",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acc.name, </a:t>
            </a:r>
            <a:r>
              <a:rPr lang="en-US" sz="1200" b="1" dirty="0" err="1">
                <a:solidFill>
                  <a:schemeClr val="accent1"/>
                </a:solidFill>
              </a:rPr>
              <a:t>acc.father_name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  <a:r>
              <a:rPr lang="en-US" sz="1200" b="1" dirty="0" err="1">
                <a:solidFill>
                  <a:schemeClr val="accent1"/>
                </a:solidFill>
              </a:rPr>
              <a:t>acc.mobile_number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</a:t>
            </a:r>
            <a:r>
              <a:rPr lang="en-US" sz="1200" b="1" dirty="0" err="1">
                <a:solidFill>
                  <a:schemeClr val="accent1"/>
                </a:solidFill>
              </a:rPr>
              <a:t>acc.addresas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  <a:r>
              <a:rPr lang="en-US" sz="1200" b="1" dirty="0" err="1">
                <a:solidFill>
                  <a:schemeClr val="accent1"/>
                </a:solidFill>
              </a:rPr>
              <a:t>acc.password</a:t>
            </a:r>
            <a:r>
              <a:rPr lang="en-US" sz="1200" b="1" dirty="0">
                <a:solidFill>
                  <a:schemeClr val="accent1"/>
                </a:solidFill>
              </a:rPr>
              <a:t>, &amp;</a:t>
            </a:r>
            <a:r>
              <a:rPr lang="en-US" sz="12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&amp;</a:t>
            </a:r>
            <a:r>
              <a:rPr lang="en-US" sz="1200" b="1" dirty="0" err="1">
                <a:solidFill>
                  <a:schemeClr val="accent1"/>
                </a:solidFill>
              </a:rPr>
              <a:t>acc.balance</a:t>
            </a:r>
            <a:r>
              <a:rPr lang="en-US" sz="1200" b="1" dirty="0">
                <a:solidFill>
                  <a:schemeClr val="accent1"/>
                </a:solidFill>
              </a:rPr>
              <a:t>) == 7)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if (</a:t>
            </a:r>
            <a:r>
              <a:rPr lang="en-US" sz="12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200" b="1" dirty="0">
                <a:solidFill>
                  <a:schemeClr val="accent1"/>
                </a:solidFill>
              </a:rPr>
              <a:t> &gt;= </a:t>
            </a:r>
            <a:r>
              <a:rPr lang="en-US" sz="1200" b="1" dirty="0" err="1">
                <a:solidFill>
                  <a:schemeClr val="accent1"/>
                </a:solidFill>
              </a:rPr>
              <a:t>maxNum</a:t>
            </a:r>
            <a:r>
              <a:rPr lang="en-US" sz="120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    </a:t>
            </a:r>
            <a:r>
              <a:rPr lang="en-US" sz="1200" b="1" dirty="0" err="1">
                <a:solidFill>
                  <a:schemeClr val="accent1"/>
                </a:solidFill>
              </a:rPr>
              <a:t>maxNum</a:t>
            </a:r>
            <a:r>
              <a:rPr lang="en-US" sz="1200" b="1" dirty="0">
                <a:solidFill>
                  <a:schemeClr val="accent1"/>
                </a:solidFill>
              </a:rPr>
              <a:t> = </a:t>
            </a:r>
            <a:r>
              <a:rPr lang="en-US" sz="12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200" b="1" dirty="0">
                <a:solidFill>
                  <a:schemeClr val="accent1"/>
                </a:solidFill>
              </a:rPr>
              <a:t> + 1;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} }}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</a:t>
            </a:r>
            <a:r>
              <a:rPr lang="en-US" sz="1200" b="1" dirty="0" err="1">
                <a:solidFill>
                  <a:schemeClr val="accent1"/>
                </a:solidFill>
              </a:rPr>
              <a:t>fclose</a:t>
            </a:r>
            <a:r>
              <a:rPr lang="en-US" sz="1200" b="1" dirty="0">
                <a:solidFill>
                  <a:schemeClr val="accent1"/>
                </a:solidFill>
              </a:rPr>
              <a:t>(file);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counter = </a:t>
            </a:r>
            <a:r>
              <a:rPr lang="en-US" sz="1200" b="1" dirty="0" err="1">
                <a:solidFill>
                  <a:schemeClr val="accent1"/>
                </a:solidFill>
              </a:rPr>
              <a:t>maxNum</a:t>
            </a:r>
            <a:r>
              <a:rPr lang="en-US" sz="1200" b="1" dirty="0">
                <a:solidFill>
                  <a:schemeClr val="accent1"/>
                </a:solidFill>
              </a:rPr>
              <a:t>;    }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return counter++;}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826A57-5024-3E0A-C56E-3D4B5DBB59FC}"/>
              </a:ext>
            </a:extLst>
          </p:cNvPr>
          <p:cNvSpPr txBox="1"/>
          <p:nvPr/>
        </p:nvSpPr>
        <p:spPr>
          <a:xfrm>
            <a:off x="3687579" y="1649803"/>
            <a:ext cx="4305300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1"/>
                </a:solidFill>
              </a:rPr>
              <a:t>if (</a:t>
            </a:r>
            <a:r>
              <a:rPr lang="en-US" sz="1100" b="1" dirty="0" err="1">
                <a:solidFill>
                  <a:schemeClr val="accent1"/>
                </a:solidFill>
              </a:rPr>
              <a:t>IsButtonClicked</a:t>
            </a:r>
            <a:r>
              <a:rPr lang="en-US" sz="1100" b="1" dirty="0">
                <a:solidFill>
                  <a:schemeClr val="accent1"/>
                </a:solidFill>
              </a:rPr>
              <a:t>(&amp;</a:t>
            </a:r>
            <a:r>
              <a:rPr lang="en-US" sz="1100" b="1" dirty="0" err="1">
                <a:solidFill>
                  <a:schemeClr val="accent1"/>
                </a:solidFill>
              </a:rPr>
              <a:t>btnSubmitCreate</a:t>
            </a:r>
            <a:r>
              <a:rPr lang="en-US" sz="1100" b="1" dirty="0">
                <a:solidFill>
                  <a:schemeClr val="accent1"/>
                </a:solidFill>
              </a:rPr>
              <a:t>))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if (</a:t>
            </a:r>
            <a:r>
              <a:rPr lang="en-US" sz="1100" b="1" dirty="0" err="1">
                <a:solidFill>
                  <a:schemeClr val="accent1"/>
                </a:solidFill>
              </a:rPr>
              <a:t>strlen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tbName.text</a:t>
            </a:r>
            <a:r>
              <a:rPr lang="en-US" sz="1100" b="1" dirty="0">
                <a:solidFill>
                  <a:schemeClr val="accent1"/>
                </a:solidFill>
              </a:rPr>
              <a:t>) == 0 ||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strlen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tbFatherName.text</a:t>
            </a:r>
            <a:r>
              <a:rPr lang="en-US" sz="1100" b="1" dirty="0">
                <a:solidFill>
                  <a:schemeClr val="accent1"/>
                </a:solidFill>
              </a:rPr>
              <a:t>) == 0 ||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strlen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tbMobile.text</a:t>
            </a:r>
            <a:r>
              <a:rPr lang="en-US" sz="1100" b="1" dirty="0">
                <a:solidFill>
                  <a:schemeClr val="accent1"/>
                </a:solidFill>
              </a:rPr>
              <a:t>) != 11 ||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strlen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tbAddress.text</a:t>
            </a:r>
            <a:r>
              <a:rPr lang="en-US" sz="1100" b="1" dirty="0">
                <a:solidFill>
                  <a:schemeClr val="accent1"/>
                </a:solidFill>
              </a:rPr>
              <a:t>) == 0 ||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strlen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tbPassword.text</a:t>
            </a:r>
            <a:r>
              <a:rPr lang="en-US" sz="1100" b="1" dirty="0">
                <a:solidFill>
                  <a:schemeClr val="accent1"/>
                </a:solidFill>
              </a:rPr>
              <a:t>) == 0)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(message, "All fields must be filled correctly!");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} else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// Check if mobile number already exists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int </a:t>
            </a:r>
            <a:r>
              <a:rPr lang="en-US" sz="1100" b="1" dirty="0" err="1">
                <a:solidFill>
                  <a:schemeClr val="accent1"/>
                </a:solidFill>
              </a:rPr>
              <a:t>mobileExists</a:t>
            </a:r>
            <a:r>
              <a:rPr lang="en-US" sz="1100" b="1" dirty="0">
                <a:solidFill>
                  <a:schemeClr val="accent1"/>
                </a:solidFill>
              </a:rPr>
              <a:t> = 0;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// [Mobile uniqueness check code...]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if (!</a:t>
            </a:r>
            <a:r>
              <a:rPr lang="en-US" sz="1100" b="1" dirty="0" err="1">
                <a:solidFill>
                  <a:schemeClr val="accent1"/>
                </a:solidFill>
              </a:rPr>
              <a:t>mobileExists</a:t>
            </a:r>
            <a:r>
              <a:rPr lang="en-US" sz="110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Account acc;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(acc.name, </a:t>
            </a:r>
            <a:r>
              <a:rPr lang="en-US" sz="1100" b="1" dirty="0" err="1">
                <a:solidFill>
                  <a:schemeClr val="accent1"/>
                </a:solidFill>
              </a:rPr>
              <a:t>tbName.text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acc.father_name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tbFatherName.text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acc.mobile_number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tbMobile.text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acc.address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tbAddress.text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acc.password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tbPassword.text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100" b="1" dirty="0">
                <a:solidFill>
                  <a:schemeClr val="accent1"/>
                </a:solidFill>
              </a:rPr>
              <a:t> = </a:t>
            </a:r>
            <a:r>
              <a:rPr lang="en-US" sz="1100" b="1" dirty="0" err="1">
                <a:solidFill>
                  <a:schemeClr val="accent1"/>
                </a:solidFill>
              </a:rPr>
              <a:t>generateAccountNumber</a:t>
            </a:r>
            <a:r>
              <a:rPr lang="en-US" sz="1100" b="1" dirty="0">
                <a:solidFill>
                  <a:schemeClr val="accent1"/>
                </a:solidFill>
              </a:rPr>
              <a:t>();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</a:t>
            </a:r>
            <a:r>
              <a:rPr lang="en-US" sz="1100" b="1" dirty="0" err="1">
                <a:solidFill>
                  <a:schemeClr val="accent1"/>
                </a:solidFill>
              </a:rPr>
              <a:t>acc.balance</a:t>
            </a:r>
            <a:r>
              <a:rPr lang="en-US" sz="1100" b="1" dirty="0">
                <a:solidFill>
                  <a:schemeClr val="accent1"/>
                </a:solidFill>
              </a:rPr>
              <a:t> = 0.0;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// Save to accounts.txt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FILE *file = </a:t>
            </a:r>
            <a:r>
              <a:rPr lang="en-US" sz="1100" b="1" dirty="0" err="1">
                <a:solidFill>
                  <a:schemeClr val="accent1"/>
                </a:solidFill>
              </a:rPr>
              <a:t>fopen</a:t>
            </a:r>
            <a:r>
              <a:rPr lang="en-US" sz="1100" b="1" dirty="0">
                <a:solidFill>
                  <a:schemeClr val="accent1"/>
                </a:solidFill>
              </a:rPr>
              <a:t>(ACCOUNT_FILE, "a");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if (file)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</a:t>
            </a:r>
            <a:r>
              <a:rPr lang="en-US" sz="1100" b="1" dirty="0" err="1">
                <a:solidFill>
                  <a:schemeClr val="accent1"/>
                </a:solidFill>
              </a:rPr>
              <a:t>fprintf</a:t>
            </a:r>
            <a:r>
              <a:rPr lang="en-US" sz="1100" b="1" dirty="0">
                <a:solidFill>
                  <a:schemeClr val="accent1"/>
                </a:solidFill>
              </a:rPr>
              <a:t>(file, "%s,%s,%s,%s,%s,%d,%.2f\n",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 acc.name, </a:t>
            </a:r>
            <a:r>
              <a:rPr lang="en-US" sz="1100" b="1" dirty="0" err="1">
                <a:solidFill>
                  <a:schemeClr val="accent1"/>
                </a:solidFill>
              </a:rPr>
              <a:t>acc.father_name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acc.mobile_number</a:t>
            </a:r>
            <a:r>
              <a:rPr lang="en-US" sz="1100" b="1" dirty="0">
                <a:solidFill>
                  <a:schemeClr val="accent1"/>
                </a:solidFill>
              </a:rPr>
              <a:t>,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 </a:t>
            </a:r>
            <a:r>
              <a:rPr lang="en-US" sz="1100" b="1" dirty="0" err="1">
                <a:solidFill>
                  <a:schemeClr val="accent1"/>
                </a:solidFill>
              </a:rPr>
              <a:t>acc.address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acc.password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 </a:t>
            </a:r>
            <a:r>
              <a:rPr lang="en-US" sz="1100" b="1" dirty="0" err="1">
                <a:solidFill>
                  <a:schemeClr val="accent1"/>
                </a:solidFill>
              </a:rPr>
              <a:t>acc.balance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</a:t>
            </a:r>
            <a:r>
              <a:rPr lang="en-US" sz="1100" b="1" dirty="0" err="1">
                <a:solidFill>
                  <a:schemeClr val="accent1"/>
                </a:solidFill>
              </a:rPr>
              <a:t>fclose</a:t>
            </a:r>
            <a:r>
              <a:rPr lang="en-US" sz="1100" b="1" dirty="0">
                <a:solidFill>
                  <a:schemeClr val="accent1"/>
                </a:solidFill>
              </a:rPr>
              <a:t>(file);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}} }}</a:t>
            </a:r>
          </a:p>
        </p:txBody>
      </p:sp>
    </p:spTree>
    <p:extLst>
      <p:ext uri="{BB962C8B-B14F-4D97-AF65-F5344CB8AC3E}">
        <p14:creationId xmlns:p14="http://schemas.microsoft.com/office/powerpoint/2010/main" val="26288771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61A5-5BCC-72BE-2B5E-D818BC55B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DFA00-045B-A602-4D6A-F7524EA5DD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1" y="1098205"/>
            <a:ext cx="6296529" cy="55159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Core Functionality: Login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3B5313-4EDF-F716-817D-BE38216D04BB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Login System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321754-6532-B919-F144-5B6B06AF6C26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7D1F885-4509-FB44-BB58-CA403A1A234E}"/>
              </a:ext>
            </a:extLst>
          </p:cNvPr>
          <p:cNvSpPr txBox="1"/>
          <p:nvPr/>
        </p:nvSpPr>
        <p:spPr>
          <a:xfrm>
            <a:off x="6096000" y="1956920"/>
            <a:ext cx="616477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56082"/>
                </a:solidFill>
              </a:rPr>
              <a:t>Authentication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File Parsing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Opens accounts.txt file in read mode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Reads account records line by line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Parses CSV format into Account structure fields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Credential Verification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Compares mobile number (username) with input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Compares password with input (plaintext)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Sets 'found' flag when match is detected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User Experience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On success: Transitions to USER_MENU state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On failure: Shows "Invalid credentials" message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Clears input fields after successful login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Security Considerations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Mobile number used as unique identifier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Simple text comparison for authentication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No password encryption or hashing implemented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941FE1-039E-D4A1-1196-07C4D78E61E4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0F2322-6916-372F-6212-F4748610C9FB}"/>
              </a:ext>
            </a:extLst>
          </p:cNvPr>
          <p:cNvSpPr txBox="1"/>
          <p:nvPr/>
        </p:nvSpPr>
        <p:spPr>
          <a:xfrm>
            <a:off x="601607" y="1945903"/>
            <a:ext cx="549439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// Login authentication process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FILE *file = </a:t>
            </a:r>
            <a:r>
              <a:rPr lang="en-US" sz="1200" b="1" dirty="0" err="1">
                <a:solidFill>
                  <a:schemeClr val="accent1"/>
                </a:solidFill>
              </a:rPr>
              <a:t>fopen</a:t>
            </a:r>
            <a:r>
              <a:rPr lang="en-US" sz="1200" b="1" dirty="0">
                <a:solidFill>
                  <a:schemeClr val="accent1"/>
                </a:solidFill>
              </a:rPr>
              <a:t>(ACCOUNT_FILE, "r");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char line[300];  int found = 0;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while (</a:t>
            </a:r>
            <a:r>
              <a:rPr lang="en-US" sz="1200" b="1" dirty="0" err="1">
                <a:solidFill>
                  <a:schemeClr val="accent1"/>
                </a:solidFill>
              </a:rPr>
              <a:t>fgets</a:t>
            </a:r>
            <a:r>
              <a:rPr lang="en-US" sz="1200" b="1" dirty="0">
                <a:solidFill>
                  <a:schemeClr val="accent1"/>
                </a:solidFill>
              </a:rPr>
              <a:t>(line, </a:t>
            </a:r>
            <a:r>
              <a:rPr lang="en-US" sz="1200" b="1" dirty="0" err="1">
                <a:solidFill>
                  <a:schemeClr val="accent1"/>
                </a:solidFill>
              </a:rPr>
              <a:t>sizeof</a:t>
            </a:r>
            <a:r>
              <a:rPr lang="en-US" sz="1200" b="1" dirty="0">
                <a:solidFill>
                  <a:schemeClr val="accent1"/>
                </a:solidFill>
              </a:rPr>
              <a:t>(line), file))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if (</a:t>
            </a:r>
            <a:r>
              <a:rPr lang="en-US" sz="1200" b="1" dirty="0" err="1">
                <a:solidFill>
                  <a:schemeClr val="accent1"/>
                </a:solidFill>
              </a:rPr>
              <a:t>sscanf</a:t>
            </a:r>
            <a:r>
              <a:rPr lang="en-US" sz="1200" b="1" dirty="0">
                <a:solidFill>
                  <a:schemeClr val="accent1"/>
                </a:solidFill>
              </a:rPr>
              <a:t>(line, "%49[^,],%49[^,],%11[^,],%99[^,],%19[^,],%</a:t>
            </a:r>
            <a:r>
              <a:rPr lang="en-US" sz="1200" b="1" dirty="0" err="1">
                <a:solidFill>
                  <a:schemeClr val="accent1"/>
                </a:solidFill>
              </a:rPr>
              <a:t>d,%f</a:t>
            </a:r>
            <a:r>
              <a:rPr lang="en-US" sz="1200" b="1" dirty="0">
                <a:solidFill>
                  <a:schemeClr val="accent1"/>
                </a:solidFill>
              </a:rPr>
              <a:t>",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currentUser.name,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</a:t>
            </a:r>
            <a:r>
              <a:rPr lang="en-US" sz="1200" b="1" dirty="0" err="1">
                <a:solidFill>
                  <a:schemeClr val="accent1"/>
                </a:solidFill>
              </a:rPr>
              <a:t>currentUser.father_name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</a:t>
            </a:r>
            <a:r>
              <a:rPr lang="en-US" sz="1200" b="1" dirty="0" err="1">
                <a:solidFill>
                  <a:schemeClr val="accent1"/>
                </a:solidFill>
              </a:rPr>
              <a:t>currentUser.mobile_number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</a:t>
            </a:r>
            <a:r>
              <a:rPr lang="en-US" sz="1200" b="1" dirty="0" err="1">
                <a:solidFill>
                  <a:schemeClr val="accent1"/>
                </a:solidFill>
              </a:rPr>
              <a:t>currentUser.address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</a:t>
            </a:r>
            <a:r>
              <a:rPr lang="en-US" sz="1200" b="1" dirty="0" err="1">
                <a:solidFill>
                  <a:schemeClr val="accent1"/>
                </a:solidFill>
              </a:rPr>
              <a:t>currentUser.password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&amp;</a:t>
            </a:r>
            <a:r>
              <a:rPr lang="en-US" sz="1200" b="1" dirty="0" err="1">
                <a:solidFill>
                  <a:schemeClr val="accent1"/>
                </a:solidFill>
              </a:rPr>
              <a:t>currentUser.account_number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&amp;</a:t>
            </a:r>
            <a:r>
              <a:rPr lang="en-US" sz="120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200" b="1" dirty="0">
                <a:solidFill>
                  <a:schemeClr val="accent1"/>
                </a:solidFill>
              </a:rPr>
              <a:t>) == 7)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if (</a:t>
            </a:r>
            <a:r>
              <a:rPr lang="en-US" sz="1200" b="1" dirty="0" err="1">
                <a:solidFill>
                  <a:schemeClr val="accent1"/>
                </a:solidFill>
              </a:rPr>
              <a:t>strcmp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currentUser.mobile_number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  <a:r>
              <a:rPr lang="en-US" sz="1200" b="1" dirty="0" err="1">
                <a:solidFill>
                  <a:schemeClr val="accent1"/>
                </a:solidFill>
              </a:rPr>
              <a:t>tbLoginMobile.text</a:t>
            </a:r>
            <a:r>
              <a:rPr lang="en-US" sz="1200" b="1" dirty="0">
                <a:solidFill>
                  <a:schemeClr val="accent1"/>
                </a:solidFill>
              </a:rPr>
              <a:t>) == 0 &amp;&amp;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</a:t>
            </a:r>
            <a:r>
              <a:rPr lang="en-US" sz="1200" b="1" dirty="0" err="1">
                <a:solidFill>
                  <a:schemeClr val="accent1"/>
                </a:solidFill>
              </a:rPr>
              <a:t>strcmp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currentUser.password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  <a:r>
              <a:rPr lang="en-US" sz="1200" b="1" dirty="0" err="1">
                <a:solidFill>
                  <a:schemeClr val="accent1"/>
                </a:solidFill>
              </a:rPr>
              <a:t>tbLoginPassword.text</a:t>
            </a:r>
            <a:r>
              <a:rPr lang="en-US" sz="1200" b="1" dirty="0">
                <a:solidFill>
                  <a:schemeClr val="accent1"/>
                </a:solidFill>
              </a:rPr>
              <a:t>) == 0)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found = 1;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break;}}}</a:t>
            </a:r>
          </a:p>
          <a:p>
            <a:r>
              <a:rPr lang="en-US" sz="1200" b="1" dirty="0" err="1">
                <a:solidFill>
                  <a:schemeClr val="accent1"/>
                </a:solidFill>
              </a:rPr>
              <a:t>fclose</a:t>
            </a:r>
            <a:r>
              <a:rPr lang="en-US" sz="1200" b="1" dirty="0">
                <a:solidFill>
                  <a:schemeClr val="accent1"/>
                </a:solidFill>
              </a:rPr>
              <a:t>(file);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if (found)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currentState</a:t>
            </a:r>
            <a:r>
              <a:rPr lang="en-US" sz="1200" b="1" dirty="0">
                <a:solidFill>
                  <a:schemeClr val="accent1"/>
                </a:solidFill>
              </a:rPr>
              <a:t> = USER_MENU;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strcpy</a:t>
            </a:r>
            <a:r>
              <a:rPr lang="en-US" sz="1200" b="1" dirty="0">
                <a:solidFill>
                  <a:schemeClr val="accent1"/>
                </a:solidFill>
              </a:rPr>
              <a:t>(message, "");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strcpy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tbLoginMobile.text</a:t>
            </a:r>
            <a:r>
              <a:rPr lang="en-US" sz="1200" b="1" dirty="0">
                <a:solidFill>
                  <a:schemeClr val="accent1"/>
                </a:solidFill>
              </a:rPr>
              <a:t>, "");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strcpy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tbLoginPassword.text</a:t>
            </a:r>
            <a:r>
              <a:rPr lang="en-US" sz="1200" b="1" dirty="0">
                <a:solidFill>
                  <a:schemeClr val="accent1"/>
                </a:solidFill>
              </a:rPr>
              <a:t>, "");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} else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strcpy</a:t>
            </a:r>
            <a:r>
              <a:rPr lang="en-US" sz="1200" b="1" dirty="0">
                <a:solidFill>
                  <a:schemeClr val="accent1"/>
                </a:solidFill>
              </a:rPr>
              <a:t>(message, "Invalid credentials!");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messageTimer</a:t>
            </a:r>
            <a:r>
              <a:rPr lang="en-US" sz="1200" b="1" dirty="0">
                <a:solidFill>
                  <a:schemeClr val="accent1"/>
                </a:solidFill>
              </a:rPr>
              <a:t> = 180;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73348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E91A5-99BA-DC1F-1774-372DA1E08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C5DD804-18A0-2537-4CC1-486D20604B2F}"/>
              </a:ext>
            </a:extLst>
          </p:cNvPr>
          <p:cNvSpPr/>
          <p:nvPr/>
        </p:nvSpPr>
        <p:spPr>
          <a:xfrm>
            <a:off x="6278584" y="1982664"/>
            <a:ext cx="5303817" cy="4577945"/>
          </a:xfrm>
          <a:prstGeom prst="roundRect">
            <a:avLst>
              <a:gd name="adj" fmla="val 1952"/>
            </a:avLst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2F293F-B8B4-89C1-7628-B96373F32E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2341" y="941658"/>
            <a:ext cx="3943149" cy="508885"/>
          </a:xfrm>
        </p:spPr>
        <p:txBody>
          <a:bodyPr>
            <a:noAutofit/>
          </a:bodyPr>
          <a:lstStyle/>
          <a:p>
            <a:pPr algn="l"/>
            <a:r>
              <a:rPr lang="en-US" sz="3200" b="1" dirty="0">
                <a:solidFill>
                  <a:srgbClr val="156082"/>
                </a:solidFill>
              </a:rPr>
              <a:t>User Menu Interface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B9BF7D-BB54-2727-B066-75CA60E74FB1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User Menu Interface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85030D4-1EF5-B727-96CF-1FC9FAAC5D9C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85E66E-819A-AA19-DDFF-339EC0AF1792}"/>
              </a:ext>
            </a:extLst>
          </p:cNvPr>
          <p:cNvSpPr txBox="1"/>
          <p:nvPr/>
        </p:nvSpPr>
        <p:spPr>
          <a:xfrm>
            <a:off x="513347" y="1870980"/>
            <a:ext cx="558265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Menu Options &amp; Navigation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Check Balance</a:t>
            </a:r>
            <a:r>
              <a:rPr lang="en-US" dirty="0">
                <a:solidFill>
                  <a:srgbClr val="156082"/>
                </a:solidFill>
              </a:rPr>
              <a:t> </a:t>
            </a:r>
            <a:r>
              <a:rPr lang="en-US" dirty="0"/>
              <a:t>→ CHECK_BALANCE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Displays current account balance with back button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Update Info</a:t>
            </a:r>
            <a:r>
              <a:rPr lang="en-US" dirty="0">
                <a:solidFill>
                  <a:srgbClr val="156082"/>
                </a:solidFill>
              </a:rPr>
              <a:t> </a:t>
            </a:r>
            <a:r>
              <a:rPr lang="en-US" dirty="0"/>
              <a:t>→ UPDATE_INFO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Edit name, father's name, address, password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Delete Account</a:t>
            </a:r>
            <a:r>
              <a:rPr lang="en-US" dirty="0">
                <a:solidFill>
                  <a:srgbClr val="156082"/>
                </a:solidFill>
              </a:rPr>
              <a:t> </a:t>
            </a:r>
            <a:r>
              <a:rPr lang="en-US" dirty="0"/>
              <a:t>→ CONFIRM_DELETE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Password verification required for deletion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Deposit</a:t>
            </a:r>
            <a:r>
              <a:rPr lang="en-US" dirty="0">
                <a:solidFill>
                  <a:srgbClr val="156082"/>
                </a:solidFill>
              </a:rPr>
              <a:t> </a:t>
            </a:r>
            <a:r>
              <a:rPr lang="en-US" dirty="0"/>
              <a:t>→ DEPOSIT → DEPOSIT_SUCCESS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Add funds with amount validation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Withdraw</a:t>
            </a:r>
            <a:r>
              <a:rPr lang="en-US" dirty="0">
                <a:solidFill>
                  <a:srgbClr val="156082"/>
                </a:solidFill>
              </a:rPr>
              <a:t> </a:t>
            </a:r>
            <a:r>
              <a:rPr lang="en-US" dirty="0"/>
              <a:t>→ WITHDRAW → (optional) WITHDRAW_VERIFY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Security questions for amounts &gt; 50000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View History</a:t>
            </a:r>
            <a:r>
              <a:rPr lang="en-US" dirty="0">
                <a:solidFill>
                  <a:srgbClr val="156082"/>
                </a:solidFill>
              </a:rPr>
              <a:t> </a:t>
            </a:r>
            <a:r>
              <a:rPr lang="en-US" dirty="0"/>
              <a:t>→ VIEW_HISTORY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Shows transactions with timestamps</a:t>
            </a:r>
          </a:p>
          <a:p>
            <a:pPr marL="285750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156082"/>
                </a:solidFill>
              </a:rPr>
              <a:t>Logout</a:t>
            </a:r>
            <a:r>
              <a:rPr lang="en-US" dirty="0"/>
              <a:t> → LOGOUT → MAIN_MENU state</a:t>
            </a:r>
          </a:p>
          <a:p>
            <a:pPr marL="742950" lvl="1" indent="-285750">
              <a:buClr>
                <a:srgbClr val="B4A700"/>
              </a:buClr>
              <a:buSzPct val="130000"/>
              <a:buFont typeface="Arial" panose="020B0604020202020204" pitchFamily="34" charset="0"/>
              <a:buChar char="•"/>
            </a:pPr>
            <a:r>
              <a:rPr lang="en-US" dirty="0"/>
              <a:t>Transitions back to initial login screen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BD36370-AAF3-B046-9A59-E784801E2B99}"/>
              </a:ext>
            </a:extLst>
          </p:cNvPr>
          <p:cNvSpPr txBox="1"/>
          <p:nvPr/>
        </p:nvSpPr>
        <p:spPr>
          <a:xfrm>
            <a:off x="5173872" y="1362095"/>
            <a:ext cx="424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Visual Representation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A10A048-3E90-D8EC-B4C3-953B52CF3F37}"/>
              </a:ext>
            </a:extLst>
          </p:cNvPr>
          <p:cNvGrpSpPr/>
          <p:nvPr/>
        </p:nvGrpSpPr>
        <p:grpSpPr>
          <a:xfrm>
            <a:off x="7859744" y="2034735"/>
            <a:ext cx="2390982" cy="4473802"/>
            <a:chOff x="8326699" y="1664025"/>
            <a:chExt cx="2390982" cy="5273638"/>
          </a:xfrm>
          <a:solidFill>
            <a:srgbClr val="156082"/>
          </a:solidFill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AEC5E7F-96AE-4AA3-317C-CF5579DB50D3}"/>
                </a:ext>
              </a:extLst>
            </p:cNvPr>
            <p:cNvSpPr/>
            <p:nvPr/>
          </p:nvSpPr>
          <p:spPr>
            <a:xfrm>
              <a:off x="8385056" y="4398042"/>
              <a:ext cx="2332621" cy="499303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WITHDRAW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BDC899B-283B-0BA1-16BC-386611150C71}"/>
                </a:ext>
              </a:extLst>
            </p:cNvPr>
            <p:cNvSpPr/>
            <p:nvPr/>
          </p:nvSpPr>
          <p:spPr>
            <a:xfrm>
              <a:off x="8385056" y="3717935"/>
              <a:ext cx="2332621" cy="499302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DEPOSIT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2422BF2-AAAF-0861-885E-B88BABA652F3}"/>
                </a:ext>
              </a:extLst>
            </p:cNvPr>
            <p:cNvSpPr/>
            <p:nvPr/>
          </p:nvSpPr>
          <p:spPr>
            <a:xfrm>
              <a:off x="8385056" y="3063527"/>
              <a:ext cx="2332621" cy="499301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UPDATE_INFO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F21E6233-FA19-C369-673D-7DBAA7B9C4FB}"/>
                </a:ext>
              </a:extLst>
            </p:cNvPr>
            <p:cNvSpPr/>
            <p:nvPr/>
          </p:nvSpPr>
          <p:spPr>
            <a:xfrm>
              <a:off x="8385060" y="2426641"/>
              <a:ext cx="2332621" cy="499301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CHECK_BALANCE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A005FA3-81EA-771A-97F9-A5F742C2A1F8}"/>
                </a:ext>
              </a:extLst>
            </p:cNvPr>
            <p:cNvSpPr/>
            <p:nvPr/>
          </p:nvSpPr>
          <p:spPr>
            <a:xfrm>
              <a:off x="8653013" y="1664025"/>
              <a:ext cx="1796716" cy="646331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USER_MENU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AE2C6B5-392D-781D-C9A7-37E1F2B18B15}"/>
                </a:ext>
              </a:extLst>
            </p:cNvPr>
            <p:cNvSpPr/>
            <p:nvPr/>
          </p:nvSpPr>
          <p:spPr>
            <a:xfrm>
              <a:off x="8348934" y="5078150"/>
              <a:ext cx="2332621" cy="499301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VIEW HISTORY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4B34066E-6A30-3FE9-D44C-5FC2931CF4B9}"/>
                </a:ext>
              </a:extLst>
            </p:cNvPr>
            <p:cNvSpPr/>
            <p:nvPr/>
          </p:nvSpPr>
          <p:spPr>
            <a:xfrm>
              <a:off x="8348934" y="6438362"/>
              <a:ext cx="2332621" cy="499301"/>
            </a:xfrm>
            <a:prstGeom prst="roundRect">
              <a:avLst/>
            </a:prstGeom>
            <a:grp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Logout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371EC3E-06FC-98B0-0D6F-575DD45757D1}"/>
                </a:ext>
              </a:extLst>
            </p:cNvPr>
            <p:cNvSpPr/>
            <p:nvPr/>
          </p:nvSpPr>
          <p:spPr>
            <a:xfrm>
              <a:off x="8326699" y="5758256"/>
              <a:ext cx="2354856" cy="499301"/>
            </a:xfrm>
            <a:prstGeom prst="roundRect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DELETE ACCOUNT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4010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C0E2E-A68C-3F58-AD50-0DA0FE105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6BDB8-16AF-74AF-6C34-54D6B5BF51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442" y="1069458"/>
            <a:ext cx="7425893" cy="55159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156082"/>
                </a:solidFill>
              </a:rPr>
              <a:t>Balance Check &amp; Information Update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7D19DC-0820-FA0D-B7F3-7D274329EA78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Balance Check &amp; Update Info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6C729B-3269-C3C9-30D1-1AA672C3FCD7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84174A4-A83B-CD39-7F18-45D3F6F44ACE}"/>
              </a:ext>
            </a:extLst>
          </p:cNvPr>
          <p:cNvSpPr txBox="1"/>
          <p:nvPr/>
        </p:nvSpPr>
        <p:spPr>
          <a:xfrm>
            <a:off x="6496837" y="1876946"/>
            <a:ext cx="611426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56082"/>
                </a:solidFill>
              </a:rPr>
              <a:t>Balance Check Feature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Simple balance display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Directly reads </a:t>
            </a:r>
            <a:r>
              <a:rPr lang="en-US" sz="1600" dirty="0" err="1"/>
              <a:t>currentUser.balance</a:t>
            </a:r>
            <a:r>
              <a:rPr lang="en-US" sz="1600" dirty="0"/>
              <a:t> value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Formats using </a:t>
            </a:r>
            <a:r>
              <a:rPr lang="en-US" sz="1600" dirty="0" err="1"/>
              <a:t>sprintf</a:t>
            </a:r>
            <a:r>
              <a:rPr lang="en-US" sz="1600" dirty="0"/>
              <a:t>: "Balance: %.2f"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Displays on CHECK_BALANCE state screen</a:t>
            </a:r>
          </a:p>
          <a:p>
            <a:r>
              <a:rPr lang="en-US" sz="1600" b="1" dirty="0">
                <a:solidFill>
                  <a:srgbClr val="156082"/>
                </a:solidFill>
              </a:rPr>
              <a:t>Update Information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Temporary File Mechanism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Creates temp.txt to safely update accounts.txt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Reads original file line by line, finds target account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Replaces just the matching record, preserves all others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Updatable Fields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Name, Father's Name, Address, Password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Account number remains fixed (unique identifier)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Balance unchanged during info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File Safety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Original file deleted only after temp file is complete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Handles potential errors during file operations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Maintains data integrity with atomic-like operations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F9E802-A6F8-1173-E772-CA2A8F8EF606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005196-A022-70F0-A354-999BDACE72C8}"/>
              </a:ext>
            </a:extLst>
          </p:cNvPr>
          <p:cNvSpPr txBox="1"/>
          <p:nvPr/>
        </p:nvSpPr>
        <p:spPr>
          <a:xfrm>
            <a:off x="742950" y="1692281"/>
            <a:ext cx="5181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Update Information Function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void </a:t>
            </a:r>
            <a:r>
              <a:rPr lang="en-US" sz="1200" b="1" dirty="0" err="1">
                <a:solidFill>
                  <a:schemeClr val="accent1"/>
                </a:solidFill>
              </a:rPr>
              <a:t>updateInformation</a:t>
            </a:r>
            <a:r>
              <a:rPr lang="en-US" sz="1200" b="1" dirty="0">
                <a:solidFill>
                  <a:schemeClr val="accent1"/>
                </a:solidFill>
              </a:rPr>
              <a:t>(Account *user)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// Open original account file for reading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FILE *file = </a:t>
            </a:r>
            <a:r>
              <a:rPr lang="en-US" sz="1200" b="1" dirty="0" err="1">
                <a:solidFill>
                  <a:schemeClr val="accent1"/>
                </a:solidFill>
              </a:rPr>
              <a:t>fopen</a:t>
            </a:r>
            <a:r>
              <a:rPr lang="en-US" sz="1200" b="1" dirty="0">
                <a:solidFill>
                  <a:schemeClr val="accent1"/>
                </a:solidFill>
              </a:rPr>
              <a:t>(ACCOUNT_FILE, "r");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FILE *</a:t>
            </a:r>
            <a:r>
              <a:rPr lang="en-US" sz="1200" b="1" dirty="0" err="1">
                <a:solidFill>
                  <a:schemeClr val="accent1"/>
                </a:solidFill>
              </a:rPr>
              <a:t>tempFile</a:t>
            </a:r>
            <a:r>
              <a:rPr lang="en-US" sz="1200" b="1" dirty="0">
                <a:solidFill>
                  <a:schemeClr val="accent1"/>
                </a:solidFill>
              </a:rPr>
              <a:t> = </a:t>
            </a:r>
            <a:r>
              <a:rPr lang="en-US" sz="1200" b="1" dirty="0" err="1">
                <a:solidFill>
                  <a:schemeClr val="accent1"/>
                </a:solidFill>
              </a:rPr>
              <a:t>fopen</a:t>
            </a:r>
            <a:r>
              <a:rPr lang="en-US" sz="1200" b="1" dirty="0">
                <a:solidFill>
                  <a:schemeClr val="accent1"/>
                </a:solidFill>
              </a:rPr>
              <a:t>("temp.txt", "w");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char line[300];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Account acc;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while (</a:t>
            </a:r>
            <a:r>
              <a:rPr lang="en-US" sz="1200" b="1" dirty="0" err="1">
                <a:solidFill>
                  <a:schemeClr val="accent1"/>
                </a:solidFill>
              </a:rPr>
              <a:t>fgets</a:t>
            </a:r>
            <a:r>
              <a:rPr lang="en-US" sz="1200" b="1" dirty="0">
                <a:solidFill>
                  <a:schemeClr val="accent1"/>
                </a:solidFill>
              </a:rPr>
              <a:t>(line, </a:t>
            </a:r>
            <a:r>
              <a:rPr lang="en-US" sz="1200" b="1" dirty="0" err="1">
                <a:solidFill>
                  <a:schemeClr val="accent1"/>
                </a:solidFill>
              </a:rPr>
              <a:t>sizeof</a:t>
            </a:r>
            <a:r>
              <a:rPr lang="en-US" sz="1200" b="1" dirty="0">
                <a:solidFill>
                  <a:schemeClr val="accent1"/>
                </a:solidFill>
              </a:rPr>
              <a:t>(line), file))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if (</a:t>
            </a:r>
            <a:r>
              <a:rPr lang="en-US" sz="1200" b="1" dirty="0" err="1">
                <a:solidFill>
                  <a:schemeClr val="accent1"/>
                </a:solidFill>
              </a:rPr>
              <a:t>sscanf</a:t>
            </a:r>
            <a:r>
              <a:rPr lang="en-US" sz="1200" b="1" dirty="0">
                <a:solidFill>
                  <a:schemeClr val="accent1"/>
                </a:solidFill>
              </a:rPr>
              <a:t>(line, "%49[^,],%49[^,],%11[^,],%99[^,],%19[^,],%</a:t>
            </a:r>
            <a:r>
              <a:rPr lang="en-US" sz="1200" b="1" dirty="0" err="1">
                <a:solidFill>
                  <a:schemeClr val="accent1"/>
                </a:solidFill>
              </a:rPr>
              <a:t>d,%f</a:t>
            </a:r>
            <a:r>
              <a:rPr lang="en-US" sz="1200" b="1" dirty="0">
                <a:solidFill>
                  <a:schemeClr val="accent1"/>
                </a:solidFill>
              </a:rPr>
              <a:t>",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acc.name, </a:t>
            </a:r>
            <a:r>
              <a:rPr lang="en-US" sz="1200" b="1" dirty="0" err="1">
                <a:solidFill>
                  <a:schemeClr val="accent1"/>
                </a:solidFill>
              </a:rPr>
              <a:t>acc.father_name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  <a:r>
              <a:rPr lang="en-US" sz="1200" b="1" dirty="0" err="1">
                <a:solidFill>
                  <a:schemeClr val="accent1"/>
                </a:solidFill>
              </a:rPr>
              <a:t>acc.mobile_number</a:t>
            </a:r>
            <a:r>
              <a:rPr lang="en-US" sz="1200" b="1" dirty="0">
                <a:solidFill>
                  <a:schemeClr val="accent1"/>
                </a:solidFill>
              </a:rPr>
              <a:t>,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</a:t>
            </a:r>
            <a:r>
              <a:rPr lang="en-US" sz="1200" b="1" dirty="0" err="1">
                <a:solidFill>
                  <a:schemeClr val="accent1"/>
                </a:solidFill>
              </a:rPr>
              <a:t>acc.address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  <a:r>
              <a:rPr lang="en-US" sz="1200" b="1" dirty="0" err="1">
                <a:solidFill>
                  <a:schemeClr val="accent1"/>
                </a:solidFill>
              </a:rPr>
              <a:t>acc.password</a:t>
            </a:r>
            <a:r>
              <a:rPr lang="en-US" sz="1200" b="1" dirty="0">
                <a:solidFill>
                  <a:schemeClr val="accent1"/>
                </a:solidFill>
              </a:rPr>
              <a:t>, &amp;</a:t>
            </a:r>
            <a:r>
              <a:rPr lang="en-US" sz="12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&amp;</a:t>
            </a:r>
            <a:r>
              <a:rPr lang="en-US" sz="1200" b="1" dirty="0" err="1">
                <a:solidFill>
                  <a:schemeClr val="accent1"/>
                </a:solidFill>
              </a:rPr>
              <a:t>acc.balance</a:t>
            </a:r>
            <a:r>
              <a:rPr lang="en-US" sz="1200" b="1" dirty="0">
                <a:solidFill>
                  <a:schemeClr val="accent1"/>
                </a:solidFill>
              </a:rPr>
              <a:t>) == 7) {  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if (</a:t>
            </a:r>
            <a:r>
              <a:rPr lang="en-US" sz="1200" b="1" dirty="0" err="1">
                <a:solidFill>
                  <a:schemeClr val="accent1"/>
                </a:solidFill>
              </a:rPr>
              <a:t>acc.account_number</a:t>
            </a:r>
            <a:r>
              <a:rPr lang="en-US" sz="1200" b="1" dirty="0">
                <a:solidFill>
                  <a:schemeClr val="accent1"/>
                </a:solidFill>
              </a:rPr>
              <a:t> == user-&gt;</a:t>
            </a:r>
            <a:r>
              <a:rPr lang="en-US" sz="1200" b="1" dirty="0" err="1">
                <a:solidFill>
                  <a:schemeClr val="accent1"/>
                </a:solidFill>
              </a:rPr>
              <a:t>account_number</a:t>
            </a:r>
            <a:r>
              <a:rPr lang="en-US" sz="120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</a:t>
            </a:r>
            <a:r>
              <a:rPr lang="en-US" sz="1200" b="1" dirty="0" err="1">
                <a:solidFill>
                  <a:schemeClr val="accent1"/>
                </a:solidFill>
              </a:rPr>
              <a:t>fprintf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tempFile</a:t>
            </a:r>
            <a:r>
              <a:rPr lang="en-US" sz="1200" b="1" dirty="0">
                <a:solidFill>
                  <a:schemeClr val="accent1"/>
                </a:solidFill>
              </a:rPr>
              <a:t>, "%s,%s,%s,%s,%s,%d,%.2f\n",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    user-&gt;name, user-&gt;</a:t>
            </a:r>
            <a:r>
              <a:rPr lang="en-US" sz="1200" b="1" dirty="0" err="1">
                <a:solidFill>
                  <a:schemeClr val="accent1"/>
                </a:solidFill>
              </a:rPr>
              <a:t>father_name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    user-&gt;</a:t>
            </a:r>
            <a:r>
              <a:rPr lang="en-US" sz="1200" b="1" dirty="0" err="1">
                <a:solidFill>
                  <a:schemeClr val="accent1"/>
                </a:solidFill>
              </a:rPr>
              <a:t>mobile_number</a:t>
            </a:r>
            <a:r>
              <a:rPr lang="en-US" sz="1200" b="1" dirty="0">
                <a:solidFill>
                  <a:schemeClr val="accent1"/>
                </a:solidFill>
              </a:rPr>
              <a:t>, user-&gt;address,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    user-&gt;password, user-&gt;</a:t>
            </a:r>
            <a:r>
              <a:rPr lang="en-US" sz="1200" b="1" dirty="0" err="1">
                <a:solidFill>
                  <a:schemeClr val="accent1"/>
                </a:solidFill>
              </a:rPr>
              <a:t>account_number</a:t>
            </a:r>
            <a:r>
              <a:rPr lang="en-US" sz="12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        user-&gt;balance);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        } else {</a:t>
            </a:r>
          </a:p>
          <a:p>
            <a:r>
              <a:rPr lang="en-US" sz="1200" b="1" dirty="0" err="1">
                <a:solidFill>
                  <a:schemeClr val="accent1"/>
                </a:solidFill>
              </a:rPr>
              <a:t>fprintf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tempFile</a:t>
            </a:r>
            <a:r>
              <a:rPr lang="en-US" sz="1200" b="1" dirty="0">
                <a:solidFill>
                  <a:schemeClr val="accent1"/>
                </a:solidFill>
              </a:rPr>
              <a:t>, "%s", line);}} }</a:t>
            </a:r>
          </a:p>
          <a:p>
            <a:r>
              <a:rPr lang="en-US" sz="1200" b="1" dirty="0" err="1">
                <a:solidFill>
                  <a:schemeClr val="accent1"/>
                </a:solidFill>
              </a:rPr>
              <a:t>fclose</a:t>
            </a:r>
            <a:r>
              <a:rPr lang="en-US" sz="1200" b="1" dirty="0">
                <a:solidFill>
                  <a:schemeClr val="accent1"/>
                </a:solidFill>
              </a:rPr>
              <a:t>(file);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</a:t>
            </a:r>
            <a:r>
              <a:rPr lang="en-US" sz="1200" b="1" dirty="0" err="1">
                <a:solidFill>
                  <a:schemeClr val="accent1"/>
                </a:solidFill>
              </a:rPr>
              <a:t>fclose</a:t>
            </a:r>
            <a:r>
              <a:rPr lang="en-US" sz="1200" b="1" dirty="0">
                <a:solidFill>
                  <a:schemeClr val="accent1"/>
                </a:solidFill>
              </a:rPr>
              <a:t>(</a:t>
            </a:r>
            <a:r>
              <a:rPr lang="en-US" sz="1200" b="1" dirty="0" err="1">
                <a:solidFill>
                  <a:schemeClr val="accent1"/>
                </a:solidFill>
              </a:rPr>
              <a:t>tempFile</a:t>
            </a:r>
            <a:r>
              <a:rPr lang="en-US" sz="12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// Replace original file with updated temp file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remove(ACCOUNT_FILE);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    rename("temp.txt", ACCOUNT_FILE);</a:t>
            </a:r>
          </a:p>
          <a:p>
            <a:r>
              <a:rPr lang="en-US" sz="1200" b="1" dirty="0">
                <a:solidFill>
                  <a:schemeClr val="accent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29194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14150-1C54-F28C-055B-193B3248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20A83-B553-9232-891B-2AC56FFC3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1" y="1098205"/>
            <a:ext cx="5382129" cy="55159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156082"/>
                </a:solidFill>
              </a:rPr>
              <a:t>Deposit Money Functionality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5FD01B-0940-5464-5850-3FA59E8734CE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Deposit Money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24675B-65A6-4139-27ED-8FE56027CC23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9981D15-82EE-3DA3-9FE5-CD93D57E891A}"/>
              </a:ext>
            </a:extLst>
          </p:cNvPr>
          <p:cNvSpPr txBox="1"/>
          <p:nvPr/>
        </p:nvSpPr>
        <p:spPr>
          <a:xfrm>
            <a:off x="7001662" y="1348800"/>
            <a:ext cx="6142838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56082"/>
                </a:solidFill>
              </a:rPr>
              <a:t>Deposit Process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User Input Validation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Validates positive amount from </a:t>
            </a:r>
            <a:r>
              <a:rPr lang="en-US" sz="1600" dirty="0" err="1"/>
              <a:t>TextBox</a:t>
            </a:r>
            <a:endParaRPr lang="en-US" sz="1600" dirty="0"/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dirty="0" err="1"/>
              <a:t>atof</a:t>
            </a:r>
            <a:r>
              <a:rPr lang="en-US" sz="1600" dirty="0"/>
              <a:t>() to convert string to float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Rejects zero or negative values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Balance Update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Adds amount to </a:t>
            </a:r>
            <a:r>
              <a:rPr lang="en-US" sz="1600" dirty="0" err="1"/>
              <a:t>currentUser.balance</a:t>
            </a:r>
            <a:endParaRPr lang="en-US" sz="1600" dirty="0"/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Calls </a:t>
            </a:r>
            <a:r>
              <a:rPr lang="en-US" sz="1600" dirty="0" err="1"/>
              <a:t>depositMoney</a:t>
            </a:r>
            <a:r>
              <a:rPr lang="en-US" sz="1600" dirty="0"/>
              <a:t>() to persist change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Shows success screen with timer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File Handling Technique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Read all accounts from accounts.txt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Create temporary file with updated data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Replace original file with temporary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Transaction Logging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Calls </a:t>
            </a:r>
            <a:r>
              <a:rPr lang="en-US" sz="1600" dirty="0" err="1"/>
              <a:t>logTransaction</a:t>
            </a:r>
            <a:r>
              <a:rPr lang="en-US" sz="1600" dirty="0"/>
              <a:t>() with deposit details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Records amount, type, and updated balance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Includes timestamp in PKT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UI Feedback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After successful deposit: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Transitions to DEPOSIT_SUCCESS state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Displays amount deposited message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Auto-returns to USER_MENU after timer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493DC1-BA5A-51CC-20DB-04FF408434DC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A14C2A-0BAE-AF12-6DEF-E6FD22F1C3EB}"/>
              </a:ext>
            </a:extLst>
          </p:cNvPr>
          <p:cNvSpPr txBox="1"/>
          <p:nvPr/>
        </p:nvSpPr>
        <p:spPr>
          <a:xfrm>
            <a:off x="693973" y="1649803"/>
            <a:ext cx="6049727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err="1">
                <a:solidFill>
                  <a:schemeClr val="accent1"/>
                </a:solidFill>
              </a:rPr>
              <a:t>depositMoney</a:t>
            </a:r>
            <a:r>
              <a:rPr lang="en-US" sz="1050" b="1" dirty="0">
                <a:solidFill>
                  <a:schemeClr val="accent1"/>
                </a:solidFill>
              </a:rPr>
              <a:t>()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void </a:t>
            </a:r>
            <a:r>
              <a:rPr lang="en-US" sz="1050" b="1" dirty="0" err="1">
                <a:solidFill>
                  <a:schemeClr val="accent1"/>
                </a:solidFill>
              </a:rPr>
              <a:t>depositMoney</a:t>
            </a:r>
            <a:r>
              <a:rPr lang="en-US" sz="1050" b="1" dirty="0">
                <a:solidFill>
                  <a:schemeClr val="accent1"/>
                </a:solidFill>
              </a:rPr>
              <a:t>(Account *user)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FILE *file = </a:t>
            </a:r>
            <a:r>
              <a:rPr lang="en-US" sz="1050" b="1" dirty="0" err="1">
                <a:solidFill>
                  <a:schemeClr val="accent1"/>
                </a:solidFill>
              </a:rPr>
              <a:t>fopen</a:t>
            </a:r>
            <a:r>
              <a:rPr lang="en-US" sz="1050" b="1" dirty="0">
                <a:solidFill>
                  <a:schemeClr val="accent1"/>
                </a:solidFill>
              </a:rPr>
              <a:t>(ACCOUNT_FILE, "r");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FILE *</a:t>
            </a:r>
            <a:r>
              <a:rPr lang="en-US" sz="1050" b="1" dirty="0" err="1">
                <a:solidFill>
                  <a:schemeClr val="accent1"/>
                </a:solidFill>
              </a:rPr>
              <a:t>tempFile</a:t>
            </a:r>
            <a:r>
              <a:rPr lang="en-US" sz="1050" b="1" dirty="0">
                <a:solidFill>
                  <a:schemeClr val="accent1"/>
                </a:solidFill>
              </a:rPr>
              <a:t> = </a:t>
            </a:r>
            <a:r>
              <a:rPr lang="en-US" sz="1050" b="1" dirty="0" err="1">
                <a:solidFill>
                  <a:schemeClr val="accent1"/>
                </a:solidFill>
              </a:rPr>
              <a:t>fopen</a:t>
            </a:r>
            <a:r>
              <a:rPr lang="en-US" sz="1050" b="1" dirty="0">
                <a:solidFill>
                  <a:schemeClr val="accent1"/>
                </a:solidFill>
              </a:rPr>
              <a:t>("temp.txt", "w");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char line[300];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while (</a:t>
            </a:r>
            <a:r>
              <a:rPr lang="en-US" sz="1050" b="1" dirty="0" err="1">
                <a:solidFill>
                  <a:schemeClr val="accent1"/>
                </a:solidFill>
              </a:rPr>
              <a:t>fgets</a:t>
            </a:r>
            <a:r>
              <a:rPr lang="en-US" sz="1050" b="1" dirty="0">
                <a:solidFill>
                  <a:schemeClr val="accent1"/>
                </a:solidFill>
              </a:rPr>
              <a:t>(line, </a:t>
            </a:r>
            <a:r>
              <a:rPr lang="en-US" sz="1050" b="1" dirty="0" err="1">
                <a:solidFill>
                  <a:schemeClr val="accent1"/>
                </a:solidFill>
              </a:rPr>
              <a:t>sizeof</a:t>
            </a:r>
            <a:r>
              <a:rPr lang="en-US" sz="1050" b="1" dirty="0">
                <a:solidFill>
                  <a:schemeClr val="accent1"/>
                </a:solidFill>
              </a:rPr>
              <a:t>(line), file))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Account acc;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if (</a:t>
            </a:r>
            <a:r>
              <a:rPr lang="en-US" sz="1050" b="1" dirty="0" err="1">
                <a:solidFill>
                  <a:schemeClr val="accent1"/>
                </a:solidFill>
              </a:rPr>
              <a:t>sscanf</a:t>
            </a:r>
            <a:r>
              <a:rPr lang="en-US" sz="1050" b="1" dirty="0">
                <a:solidFill>
                  <a:schemeClr val="accent1"/>
                </a:solidFill>
              </a:rPr>
              <a:t>(line, "%49[^,],%49[^,],%11[^,],%99[^,],%19[^,],%</a:t>
            </a:r>
            <a:r>
              <a:rPr lang="en-US" sz="1050" b="1" dirty="0" err="1">
                <a:solidFill>
                  <a:schemeClr val="accent1"/>
                </a:solidFill>
              </a:rPr>
              <a:t>d,%f</a:t>
            </a:r>
            <a:r>
              <a:rPr lang="en-US" sz="1050" b="1" dirty="0">
                <a:solidFill>
                  <a:schemeClr val="accent1"/>
                </a:solidFill>
              </a:rPr>
              <a:t>",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acc.name, </a:t>
            </a:r>
            <a:r>
              <a:rPr lang="en-US" sz="1050" b="1" dirty="0" err="1">
                <a:solidFill>
                  <a:schemeClr val="accent1"/>
                </a:solidFill>
              </a:rPr>
              <a:t>acc.father_name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  <a:r>
              <a:rPr lang="en-US" sz="1050" b="1" dirty="0" err="1">
                <a:solidFill>
                  <a:schemeClr val="accent1"/>
                </a:solidFill>
              </a:rPr>
              <a:t>acc.mobile_number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</a:t>
            </a:r>
            <a:r>
              <a:rPr lang="en-US" sz="1050" b="1" dirty="0" err="1">
                <a:solidFill>
                  <a:schemeClr val="accent1"/>
                </a:solidFill>
              </a:rPr>
              <a:t>acc.address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  <a:r>
              <a:rPr lang="en-US" sz="1050" b="1" dirty="0" err="1">
                <a:solidFill>
                  <a:schemeClr val="accent1"/>
                </a:solidFill>
              </a:rPr>
              <a:t>acc.password</a:t>
            </a:r>
            <a:r>
              <a:rPr lang="en-US" sz="1050" b="1" dirty="0">
                <a:solidFill>
                  <a:schemeClr val="accent1"/>
                </a:solidFill>
              </a:rPr>
              <a:t>, &amp;</a:t>
            </a:r>
            <a:r>
              <a:rPr lang="en-US" sz="1050" b="1" dirty="0" err="1">
                <a:solidFill>
                  <a:schemeClr val="accent1"/>
                </a:solidFill>
              </a:rPr>
              <a:t>acc.account_number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&amp;</a:t>
            </a:r>
            <a:r>
              <a:rPr lang="en-US" sz="1050" b="1" dirty="0" err="1">
                <a:solidFill>
                  <a:schemeClr val="accent1"/>
                </a:solidFill>
              </a:rPr>
              <a:t>acc.balance</a:t>
            </a:r>
            <a:r>
              <a:rPr lang="en-US" sz="1050" b="1" dirty="0">
                <a:solidFill>
                  <a:schemeClr val="accent1"/>
                </a:solidFill>
              </a:rPr>
              <a:t>) == 7)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if (</a:t>
            </a:r>
            <a:r>
              <a:rPr lang="en-US" sz="1050" b="1" dirty="0" err="1">
                <a:solidFill>
                  <a:schemeClr val="accent1"/>
                </a:solidFill>
              </a:rPr>
              <a:t>acc.account_number</a:t>
            </a:r>
            <a:r>
              <a:rPr lang="en-US" sz="1050" b="1" dirty="0">
                <a:solidFill>
                  <a:schemeClr val="accent1"/>
                </a:solidFill>
              </a:rPr>
              <a:t> == user-&gt;</a:t>
            </a:r>
            <a:r>
              <a:rPr lang="en-US" sz="1050" b="1" dirty="0" err="1">
                <a:solidFill>
                  <a:schemeClr val="accent1"/>
                </a:solidFill>
              </a:rPr>
              <a:t>account_number</a:t>
            </a:r>
            <a:r>
              <a:rPr lang="en-US" sz="105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    </a:t>
            </a:r>
            <a:r>
              <a:rPr lang="en-US" sz="1050" b="1" dirty="0" err="1">
                <a:solidFill>
                  <a:schemeClr val="accent1"/>
                </a:solidFill>
              </a:rPr>
              <a:t>fprintf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tempFile</a:t>
            </a:r>
            <a:r>
              <a:rPr lang="en-US" sz="1050" b="1" dirty="0">
                <a:solidFill>
                  <a:schemeClr val="accent1"/>
                </a:solidFill>
              </a:rPr>
              <a:t>, "%s,%s,%s,%s,%s,%d,%.2f\n",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        acc.name, </a:t>
            </a:r>
            <a:r>
              <a:rPr lang="en-US" sz="1050" b="1" dirty="0" err="1">
                <a:solidFill>
                  <a:schemeClr val="accent1"/>
                </a:solidFill>
              </a:rPr>
              <a:t>acc.father_name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  <a:r>
              <a:rPr lang="en-US" sz="1050" b="1" dirty="0" err="1">
                <a:solidFill>
                  <a:schemeClr val="accent1"/>
                </a:solidFill>
              </a:rPr>
              <a:t>acc.mobile_number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        </a:t>
            </a:r>
            <a:r>
              <a:rPr lang="en-US" sz="1050" b="1" dirty="0" err="1">
                <a:solidFill>
                  <a:schemeClr val="accent1"/>
                </a:solidFill>
              </a:rPr>
              <a:t>acc.address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  <a:r>
              <a:rPr lang="en-US" sz="1050" b="1" dirty="0" err="1">
                <a:solidFill>
                  <a:schemeClr val="accent1"/>
                </a:solidFill>
              </a:rPr>
              <a:t>acc.password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  <a:r>
              <a:rPr lang="en-US" sz="1050" b="1" dirty="0" err="1">
                <a:solidFill>
                  <a:schemeClr val="accent1"/>
                </a:solidFill>
              </a:rPr>
              <a:t>acc.account_number</a:t>
            </a:r>
            <a:r>
              <a:rPr lang="en-US" sz="105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            user-&gt;balance); // Write updated balance   } else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</a:t>
            </a:r>
            <a:r>
              <a:rPr lang="en-US" sz="1050" b="1" dirty="0" err="1">
                <a:solidFill>
                  <a:schemeClr val="accent1"/>
                </a:solidFill>
              </a:rPr>
              <a:t>fprintf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tempFile</a:t>
            </a:r>
            <a:r>
              <a:rPr lang="en-US" sz="1050" b="1" dirty="0">
                <a:solidFill>
                  <a:schemeClr val="accent1"/>
                </a:solidFill>
              </a:rPr>
              <a:t>, "%s", line); // Copy other accounts } }}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</a:t>
            </a:r>
            <a:r>
              <a:rPr lang="en-US" sz="1050" b="1" dirty="0" err="1">
                <a:solidFill>
                  <a:schemeClr val="accent1"/>
                </a:solidFill>
              </a:rPr>
              <a:t>fclose</a:t>
            </a:r>
            <a:r>
              <a:rPr lang="en-US" sz="1050" b="1" dirty="0">
                <a:solidFill>
                  <a:schemeClr val="accent1"/>
                </a:solidFill>
              </a:rPr>
              <a:t>(file);     </a:t>
            </a:r>
            <a:r>
              <a:rPr lang="en-US" sz="1050" b="1" dirty="0" err="1">
                <a:solidFill>
                  <a:schemeClr val="accent1"/>
                </a:solidFill>
              </a:rPr>
              <a:t>fclose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tempFile</a:t>
            </a:r>
            <a:r>
              <a:rPr lang="en-US" sz="105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remove(ACCOUNT_FILE);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rename("temp.txt", ACCOUNT_FILE);}</a:t>
            </a:r>
          </a:p>
          <a:p>
            <a:r>
              <a:rPr lang="en-US" sz="1050" b="1" dirty="0" err="1">
                <a:solidFill>
                  <a:schemeClr val="accent1"/>
                </a:solidFill>
              </a:rPr>
              <a:t>logTransaction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currentUser.account_number</a:t>
            </a:r>
            <a:r>
              <a:rPr lang="en-US" sz="1050" b="1" dirty="0">
                <a:solidFill>
                  <a:schemeClr val="accent1"/>
                </a:solidFill>
              </a:rPr>
              <a:t>, "Deposit", 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amount, </a:t>
            </a:r>
            <a:r>
              <a:rPr lang="en-US" sz="105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05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if (</a:t>
            </a:r>
            <a:r>
              <a:rPr lang="en-US" sz="1050" b="1" dirty="0" err="1">
                <a:solidFill>
                  <a:schemeClr val="accent1"/>
                </a:solidFill>
              </a:rPr>
              <a:t>IsButtonClicked</a:t>
            </a:r>
            <a:r>
              <a:rPr lang="en-US" sz="1050" b="1" dirty="0">
                <a:solidFill>
                  <a:schemeClr val="accent1"/>
                </a:solidFill>
              </a:rPr>
              <a:t>(&amp;</a:t>
            </a:r>
            <a:r>
              <a:rPr lang="en-US" sz="1050" b="1" dirty="0" err="1">
                <a:solidFill>
                  <a:schemeClr val="accent1"/>
                </a:solidFill>
              </a:rPr>
              <a:t>btnSubmitDeposit</a:t>
            </a:r>
            <a:r>
              <a:rPr lang="en-US" sz="1050" b="1" dirty="0">
                <a:solidFill>
                  <a:schemeClr val="accent1"/>
                </a:solidFill>
              </a:rPr>
              <a:t>))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float amount = </a:t>
            </a:r>
            <a:r>
              <a:rPr lang="en-US" sz="1050" b="1" dirty="0" err="1">
                <a:solidFill>
                  <a:schemeClr val="accent1"/>
                </a:solidFill>
              </a:rPr>
              <a:t>atof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tbDepositAmount.text</a:t>
            </a:r>
            <a:r>
              <a:rPr lang="en-US" sz="105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if (amount &gt; 0) {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</a:t>
            </a:r>
            <a:r>
              <a:rPr lang="en-US" sz="105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050" b="1" dirty="0">
                <a:solidFill>
                  <a:schemeClr val="accent1"/>
                </a:solidFill>
              </a:rPr>
              <a:t> += amount;    </a:t>
            </a:r>
            <a:r>
              <a:rPr lang="en-US" sz="1050" b="1" dirty="0" err="1">
                <a:solidFill>
                  <a:schemeClr val="accent1"/>
                </a:solidFill>
              </a:rPr>
              <a:t>depositMoney</a:t>
            </a:r>
            <a:r>
              <a:rPr lang="en-US" sz="1050" b="1" dirty="0">
                <a:solidFill>
                  <a:schemeClr val="accent1"/>
                </a:solidFill>
              </a:rPr>
              <a:t>(&amp;</a:t>
            </a:r>
            <a:r>
              <a:rPr lang="en-US" sz="1050" b="1" dirty="0" err="1">
                <a:solidFill>
                  <a:schemeClr val="accent1"/>
                </a:solidFill>
              </a:rPr>
              <a:t>currentUser</a:t>
            </a:r>
            <a:r>
              <a:rPr lang="en-US" sz="105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</a:t>
            </a:r>
            <a:r>
              <a:rPr lang="en-US" sz="1050" b="1" dirty="0" err="1">
                <a:solidFill>
                  <a:schemeClr val="accent1"/>
                </a:solidFill>
              </a:rPr>
              <a:t>logTransaction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currentUser.account_number</a:t>
            </a:r>
            <a:r>
              <a:rPr lang="en-US" sz="1050" b="1" dirty="0">
                <a:solidFill>
                  <a:schemeClr val="accent1"/>
                </a:solidFill>
              </a:rPr>
              <a:t>, "Deposit",    amount, </a:t>
            </a:r>
            <a:r>
              <a:rPr lang="en-US" sz="105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05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</a:t>
            </a:r>
            <a:r>
              <a:rPr lang="en-US" sz="1050" b="1" dirty="0" err="1">
                <a:solidFill>
                  <a:schemeClr val="accent1"/>
                </a:solidFill>
              </a:rPr>
              <a:t>depositSuccessAmount</a:t>
            </a:r>
            <a:r>
              <a:rPr lang="en-US" sz="1050" b="1" dirty="0">
                <a:solidFill>
                  <a:schemeClr val="accent1"/>
                </a:solidFill>
              </a:rPr>
              <a:t> = amount;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</a:t>
            </a:r>
            <a:r>
              <a:rPr lang="en-US" sz="1050" b="1" dirty="0" err="1">
                <a:solidFill>
                  <a:schemeClr val="accent1"/>
                </a:solidFill>
              </a:rPr>
              <a:t>depositSuccessTimer</a:t>
            </a:r>
            <a:r>
              <a:rPr lang="en-US" sz="1050" b="1" dirty="0">
                <a:solidFill>
                  <a:schemeClr val="accent1"/>
                </a:solidFill>
              </a:rPr>
              <a:t> = 240;  // 4 seconds at 60 FPS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</a:t>
            </a:r>
            <a:r>
              <a:rPr lang="en-US" sz="1050" b="1" dirty="0" err="1">
                <a:solidFill>
                  <a:schemeClr val="accent1"/>
                </a:solidFill>
              </a:rPr>
              <a:t>strcpy</a:t>
            </a:r>
            <a:r>
              <a:rPr lang="en-US" sz="1050" b="1" dirty="0">
                <a:solidFill>
                  <a:schemeClr val="accent1"/>
                </a:solidFill>
              </a:rPr>
              <a:t>(</a:t>
            </a:r>
            <a:r>
              <a:rPr lang="en-US" sz="1050" b="1" dirty="0" err="1">
                <a:solidFill>
                  <a:schemeClr val="accent1"/>
                </a:solidFill>
              </a:rPr>
              <a:t>tbDepositAmount.text</a:t>
            </a:r>
            <a:r>
              <a:rPr lang="en-US" sz="1050" b="1" dirty="0">
                <a:solidFill>
                  <a:schemeClr val="accent1"/>
                </a:solidFill>
              </a:rPr>
              <a:t>, "");</a:t>
            </a:r>
          </a:p>
          <a:p>
            <a:r>
              <a:rPr lang="en-US" sz="1050" b="1" dirty="0">
                <a:solidFill>
                  <a:schemeClr val="accent1"/>
                </a:solidFill>
              </a:rPr>
              <a:t>        </a:t>
            </a:r>
            <a:r>
              <a:rPr lang="en-US" sz="1050" b="1" dirty="0" err="1">
                <a:solidFill>
                  <a:schemeClr val="accent1"/>
                </a:solidFill>
              </a:rPr>
              <a:t>currentState</a:t>
            </a:r>
            <a:r>
              <a:rPr lang="en-US" sz="1050" b="1" dirty="0">
                <a:solidFill>
                  <a:schemeClr val="accent1"/>
                </a:solidFill>
              </a:rPr>
              <a:t> = DEPOSIT_SUCCESS;}}</a:t>
            </a:r>
          </a:p>
        </p:txBody>
      </p:sp>
    </p:spTree>
    <p:extLst>
      <p:ext uri="{BB962C8B-B14F-4D97-AF65-F5344CB8AC3E}">
        <p14:creationId xmlns:p14="http://schemas.microsoft.com/office/powerpoint/2010/main" val="2556071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84FE7-0D98-C1FE-88A4-184C2FBEB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5197B-209F-1AA5-2754-3A36FF16C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546" y="912481"/>
            <a:ext cx="7772904" cy="55159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Enhanced Security for Large Withdrawals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831206-4C6D-2F9D-624A-643E9FBD156F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Withdraw Money with Security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69A2A25-AAE3-D4C0-B950-A434369F6FAB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F4A334F-5DA0-B4DD-1D3C-A185B5E75D75}"/>
              </a:ext>
            </a:extLst>
          </p:cNvPr>
          <p:cNvSpPr txBox="1"/>
          <p:nvPr/>
        </p:nvSpPr>
        <p:spPr>
          <a:xfrm>
            <a:off x="4896636" y="2012013"/>
            <a:ext cx="7390613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156082"/>
                </a:solidFill>
              </a:rPr>
              <a:t>Security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56082"/>
                </a:solidFill>
              </a:rPr>
              <a:t>Two-tier security approach</a:t>
            </a:r>
            <a:endParaRPr lang="en-US" sz="14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Standard verification for amounts ≤ 50000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Enhanced security with knowledge-based questions for amounts &gt; 50000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56082"/>
                </a:solidFill>
              </a:rPr>
              <a:t>Random challenge questions</a:t>
            </a:r>
            <a:endParaRPr lang="en-US" sz="14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System randomly selects one of four personal questions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Questions based on information only the account owner would know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Different question each time improves security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56082"/>
                </a:solidFill>
              </a:rPr>
              <a:t>State-based verification process</a:t>
            </a:r>
            <a:endParaRPr lang="en-US" sz="14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WITHDRAW → WITHDRAW_VERIFY → WITHDRAW_SUCCESS or WITHDRAW_FAILED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Dedicated screens for each step in the withdrawal process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56082"/>
                </a:solidFill>
              </a:rPr>
              <a:t>Verification outcomes</a:t>
            </a:r>
            <a:endParaRPr lang="en-US" sz="14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Success: Amount deducted, transaction logged, success screen shown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Failure: Transaction canceled, user notified, returns to menu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Prevents unauthorized withdrawals by requiring personal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156082"/>
                </a:solidFill>
              </a:rPr>
              <a:t>Implementation highlights</a:t>
            </a:r>
            <a:endParaRPr lang="en-US" sz="14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Uses exact string matching with </a:t>
            </a:r>
            <a:r>
              <a:rPr lang="en-US" sz="1400" dirty="0" err="1"/>
              <a:t>strcmp</a:t>
            </a:r>
            <a:r>
              <a:rPr lang="en-US" sz="1400" dirty="0"/>
              <a:t>() for verification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Stores pending amount during verification process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400" dirty="0"/>
              <a:t>Question index randomized with rand() for unpredictability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E7DC46-00DF-A244-3E7E-2781D628BF6C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D27A3-6312-CF19-F4AA-33DB7C1580EA}"/>
              </a:ext>
            </a:extLst>
          </p:cNvPr>
          <p:cNvSpPr txBox="1"/>
          <p:nvPr/>
        </p:nvSpPr>
        <p:spPr>
          <a:xfrm>
            <a:off x="693973" y="1604210"/>
            <a:ext cx="4697177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Security Verification Implementation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if (amount &gt; 0 &amp;&amp; amount &lt;= </a:t>
            </a:r>
            <a:r>
              <a:rPr lang="en-US" sz="110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10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if (amount &gt; 5000.0f) {</a:t>
            </a:r>
          </a:p>
          <a:p>
            <a:r>
              <a:rPr lang="en-US" sz="1100" b="1" dirty="0" err="1">
                <a:solidFill>
                  <a:schemeClr val="accent1"/>
                </a:solidFill>
              </a:rPr>
              <a:t>pendingWithdrawAmount</a:t>
            </a:r>
            <a:r>
              <a:rPr lang="en-US" sz="1100" b="1" dirty="0">
                <a:solidFill>
                  <a:schemeClr val="accent1"/>
                </a:solidFill>
              </a:rPr>
              <a:t> = amount;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withdrawQuestionIndex</a:t>
            </a:r>
            <a:r>
              <a:rPr lang="en-US" sz="1100" b="1" dirty="0">
                <a:solidFill>
                  <a:schemeClr val="accent1"/>
                </a:solidFill>
              </a:rPr>
              <a:t> = rand() % 4;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tbWithdrawSecurity.text</a:t>
            </a:r>
            <a:r>
              <a:rPr lang="en-US" sz="1100" b="1" dirty="0">
                <a:solidFill>
                  <a:schemeClr val="accent1"/>
                </a:solidFill>
              </a:rPr>
              <a:t>, "");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currentState</a:t>
            </a:r>
            <a:r>
              <a:rPr lang="en-US" sz="1100" b="1" dirty="0">
                <a:solidFill>
                  <a:schemeClr val="accent1"/>
                </a:solidFill>
              </a:rPr>
              <a:t> = WITHDRAW_VERIFY;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} else {</a:t>
            </a:r>
          </a:p>
          <a:p>
            <a:r>
              <a:rPr lang="en-US" sz="110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100" b="1" dirty="0">
                <a:solidFill>
                  <a:schemeClr val="accent1"/>
                </a:solidFill>
              </a:rPr>
              <a:t> -= amount;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withdrawMoney</a:t>
            </a:r>
            <a:r>
              <a:rPr lang="en-US" sz="1100" b="1" dirty="0">
                <a:solidFill>
                  <a:schemeClr val="accent1"/>
                </a:solidFill>
              </a:rPr>
              <a:t>(&amp;</a:t>
            </a:r>
            <a:r>
              <a:rPr lang="en-US" sz="1100" b="1" dirty="0" err="1">
                <a:solidFill>
                  <a:schemeClr val="accent1"/>
                </a:solidFill>
              </a:rPr>
              <a:t>currentUser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logTransaction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currentUser.account_number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   "Withdraw", amount, </a:t>
            </a:r>
            <a:r>
              <a:rPr lang="en-US" sz="110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100" b="1" dirty="0">
                <a:solidFill>
                  <a:schemeClr val="accent1"/>
                </a:solidFill>
              </a:rPr>
              <a:t>);}}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char expected[100];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switch (</a:t>
            </a:r>
            <a:r>
              <a:rPr lang="en-US" sz="1100" b="1" dirty="0" err="1">
                <a:solidFill>
                  <a:schemeClr val="accent1"/>
                </a:solidFill>
              </a:rPr>
              <a:t>withdrawQuestionIndex</a:t>
            </a:r>
            <a:r>
              <a:rPr lang="en-US" sz="110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case 0: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(expected, </a:t>
            </a:r>
            <a:r>
              <a:rPr lang="en-US" sz="1100" b="1" dirty="0" err="1">
                <a:solidFill>
                  <a:schemeClr val="accent1"/>
                </a:solidFill>
              </a:rPr>
              <a:t>currentUser.father_name</a:t>
            </a:r>
            <a:r>
              <a:rPr lang="en-US" sz="1100" b="1" dirty="0">
                <a:solidFill>
                  <a:schemeClr val="accent1"/>
                </a:solidFill>
              </a:rPr>
              <a:t>);break;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case 1: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(expected, </a:t>
            </a:r>
            <a:r>
              <a:rPr lang="en-US" sz="1100" b="1" dirty="0" err="1">
                <a:solidFill>
                  <a:schemeClr val="accent1"/>
                </a:solidFill>
              </a:rPr>
              <a:t>currentUser.mobile_number</a:t>
            </a:r>
            <a:r>
              <a:rPr lang="en-US" sz="1100" b="1" dirty="0">
                <a:solidFill>
                  <a:schemeClr val="accent1"/>
                </a:solidFill>
              </a:rPr>
              <a:t>);break;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case 2: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strcpy</a:t>
            </a:r>
            <a:r>
              <a:rPr lang="en-US" sz="1100" b="1" dirty="0">
                <a:solidFill>
                  <a:schemeClr val="accent1"/>
                </a:solidFill>
              </a:rPr>
              <a:t>(expected, </a:t>
            </a:r>
            <a:r>
              <a:rPr lang="en-US" sz="1100" b="1" dirty="0" err="1">
                <a:solidFill>
                  <a:schemeClr val="accent1"/>
                </a:solidFill>
              </a:rPr>
              <a:t>currentUser.address</a:t>
            </a:r>
            <a:r>
              <a:rPr lang="en-US" sz="1100" b="1" dirty="0">
                <a:solidFill>
                  <a:schemeClr val="accent1"/>
                </a:solidFill>
              </a:rPr>
              <a:t>);break;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case 3: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sprintf</a:t>
            </a:r>
            <a:r>
              <a:rPr lang="en-US" sz="1100" b="1" dirty="0">
                <a:solidFill>
                  <a:schemeClr val="accent1"/>
                </a:solidFill>
              </a:rPr>
              <a:t>(expected, "%d", </a:t>
            </a:r>
            <a:r>
              <a:rPr lang="en-US" sz="1100" b="1" dirty="0" err="1">
                <a:solidFill>
                  <a:schemeClr val="accent1"/>
                </a:solidFill>
              </a:rPr>
              <a:t>currentUser.account_number</a:t>
            </a:r>
            <a:r>
              <a:rPr lang="en-US" sz="1100" b="1" dirty="0">
                <a:solidFill>
                  <a:schemeClr val="accent1"/>
                </a:solidFill>
              </a:rPr>
              <a:t>);break;}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if (</a:t>
            </a:r>
            <a:r>
              <a:rPr lang="en-US" sz="1100" b="1" dirty="0" err="1">
                <a:solidFill>
                  <a:schemeClr val="accent1"/>
                </a:solidFill>
              </a:rPr>
              <a:t>strcmp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tbWithdrawSecurity.text</a:t>
            </a:r>
            <a:r>
              <a:rPr lang="en-US" sz="1100" b="1" dirty="0">
                <a:solidFill>
                  <a:schemeClr val="accent1"/>
                </a:solidFill>
              </a:rPr>
              <a:t>, expected) == 0) {</a:t>
            </a:r>
          </a:p>
          <a:p>
            <a:r>
              <a:rPr lang="en-US" sz="110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100" b="1" dirty="0">
                <a:solidFill>
                  <a:schemeClr val="accent1"/>
                </a:solidFill>
              </a:rPr>
              <a:t> -= </a:t>
            </a:r>
            <a:r>
              <a:rPr lang="en-US" sz="1100" b="1" dirty="0" err="1">
                <a:solidFill>
                  <a:schemeClr val="accent1"/>
                </a:solidFill>
              </a:rPr>
              <a:t>pendingWithdrawAmount</a:t>
            </a:r>
            <a:r>
              <a:rPr lang="en-US" sz="1100" b="1" dirty="0">
                <a:solidFill>
                  <a:schemeClr val="accent1"/>
                </a:solidFill>
              </a:rPr>
              <a:t>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withdrawMoney</a:t>
            </a:r>
            <a:r>
              <a:rPr lang="en-US" sz="1100" b="1" dirty="0">
                <a:solidFill>
                  <a:schemeClr val="accent1"/>
                </a:solidFill>
              </a:rPr>
              <a:t>(&amp;</a:t>
            </a:r>
            <a:r>
              <a:rPr lang="en-US" sz="1100" b="1" dirty="0" err="1">
                <a:solidFill>
                  <a:schemeClr val="accent1"/>
                </a:solidFill>
              </a:rPr>
              <a:t>currentUser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logTransaction</a:t>
            </a:r>
            <a:r>
              <a:rPr lang="en-US" sz="1100" b="1" dirty="0">
                <a:solidFill>
                  <a:schemeClr val="accent1"/>
                </a:solidFill>
              </a:rPr>
              <a:t>(</a:t>
            </a:r>
            <a:r>
              <a:rPr lang="en-US" sz="1100" b="1" dirty="0" err="1">
                <a:solidFill>
                  <a:schemeClr val="accent1"/>
                </a:solidFill>
              </a:rPr>
              <a:t>currentUser.account_number</a:t>
            </a:r>
            <a:r>
              <a:rPr lang="en-US" sz="1100" b="1" dirty="0">
                <a:solidFill>
                  <a:schemeClr val="accent1"/>
                </a:solidFill>
              </a:rPr>
              <a:t>, "Withdraw",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</a:t>
            </a:r>
            <a:r>
              <a:rPr lang="en-US" sz="1100" b="1" dirty="0" err="1">
                <a:solidFill>
                  <a:schemeClr val="accent1"/>
                </a:solidFill>
              </a:rPr>
              <a:t>pendingWithdrawAmount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currentUser.balance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currentState</a:t>
            </a:r>
            <a:r>
              <a:rPr lang="en-US" sz="1100" b="1" dirty="0">
                <a:solidFill>
                  <a:schemeClr val="accent1"/>
                </a:solidFill>
              </a:rPr>
              <a:t> = WITHDRAW_SUCCESS;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} else {</a:t>
            </a:r>
            <a:r>
              <a:rPr lang="en-US" sz="1100" b="1" dirty="0" err="1">
                <a:solidFill>
                  <a:schemeClr val="accent1"/>
                </a:solidFill>
              </a:rPr>
              <a:t>currentState</a:t>
            </a:r>
            <a:r>
              <a:rPr lang="en-US" sz="1100" b="1" dirty="0">
                <a:solidFill>
                  <a:schemeClr val="accent1"/>
                </a:solidFill>
              </a:rPr>
              <a:t> = WITHDRAW_FAILED;}</a:t>
            </a:r>
          </a:p>
        </p:txBody>
      </p:sp>
    </p:spTree>
    <p:extLst>
      <p:ext uri="{BB962C8B-B14F-4D97-AF65-F5344CB8AC3E}">
        <p14:creationId xmlns:p14="http://schemas.microsoft.com/office/powerpoint/2010/main" val="39731440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91D3-69FE-A39F-856A-EE6D9EA98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53368-C7BA-4641-C9A9-B33BB3BBA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071" y="1098205"/>
            <a:ext cx="4124829" cy="551598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Transaction History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5240B8-B5F5-064F-A2D1-621857EA3C52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Transaction History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11FBF98-D2AF-0133-838A-F3B65021B625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C0EE09C0-70D1-F5C5-E752-EC43FBE07A9F}"/>
              </a:ext>
            </a:extLst>
          </p:cNvPr>
          <p:cNvSpPr txBox="1"/>
          <p:nvPr/>
        </p:nvSpPr>
        <p:spPr>
          <a:xfrm>
            <a:off x="5601487" y="1988357"/>
            <a:ext cx="738034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156082"/>
                </a:solidFill>
              </a:rPr>
              <a:t>Per-Account Transaction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Separate Files Per Account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Each account has its own transaction log file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Filename: transactions_</a:t>
            </a:r>
            <a:r>
              <a:rPr lang="en-US" sz="1600" i="1" dirty="0"/>
              <a:t>{account_number}</a:t>
            </a:r>
            <a:r>
              <a:rPr lang="en-US" sz="1600" dirty="0"/>
              <a:t>.txt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Ensures privacy and efficient retrieval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Pakistan International Time (PKT)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UTC+5 </a:t>
            </a:r>
            <a:r>
              <a:rPr lang="en-US" sz="1600" dirty="0" err="1"/>
              <a:t>timezone</a:t>
            </a:r>
            <a:r>
              <a:rPr lang="en-US" sz="1600" dirty="0"/>
              <a:t> adjustment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Simple day rollover handling for overnight transactions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Formatted as DD/MM/YYYY HH:MM:SS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Transaction Details Logged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Timestamp from </a:t>
            </a:r>
            <a:r>
              <a:rPr lang="en-US" sz="1600" dirty="0" err="1"/>
              <a:t>getCurrentDateTime</a:t>
            </a:r>
            <a:r>
              <a:rPr lang="en-US" sz="1600" dirty="0"/>
              <a:t>()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Transaction type (Deposit/Withdraw)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Transaction amount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Post-transaction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56082"/>
                </a:solidFill>
              </a:rPr>
              <a:t>Implementation Details</a:t>
            </a:r>
            <a:endParaRPr lang="en-US" sz="1600" dirty="0">
              <a:solidFill>
                <a:srgbClr val="156082"/>
              </a:solidFill>
            </a:endParaRP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Append-mode file operations for continuous history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Called after each successful deposit/withdrawal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D7F16C-68F1-DA1F-3D36-3CC91CB142BD}"/>
              </a:ext>
            </a:extLst>
          </p:cNvPr>
          <p:cNvSpPr txBox="1"/>
          <p:nvPr/>
        </p:nvSpPr>
        <p:spPr>
          <a:xfrm>
            <a:off x="509242" y="2440008"/>
            <a:ext cx="184731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448AB2-05CD-C792-6B54-520C906E88BE}"/>
              </a:ext>
            </a:extLst>
          </p:cNvPr>
          <p:cNvSpPr txBox="1"/>
          <p:nvPr/>
        </p:nvSpPr>
        <p:spPr>
          <a:xfrm>
            <a:off x="601607" y="1649803"/>
            <a:ext cx="4884793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156082"/>
                </a:solidFill>
              </a:rPr>
              <a:t>PKT Time Implementation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void </a:t>
            </a:r>
            <a:r>
              <a:rPr lang="en-US" sz="1100" b="1" dirty="0" err="1">
                <a:solidFill>
                  <a:schemeClr val="accent1"/>
                </a:solidFill>
              </a:rPr>
              <a:t>getCurrentDateTime</a:t>
            </a:r>
            <a:r>
              <a:rPr lang="en-US" sz="1100" b="1" dirty="0">
                <a:solidFill>
                  <a:schemeClr val="accent1"/>
                </a:solidFill>
              </a:rPr>
              <a:t>(char *datetime)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time_t</a:t>
            </a:r>
            <a:r>
              <a:rPr lang="en-US" sz="1100" b="1" dirty="0">
                <a:solidFill>
                  <a:schemeClr val="accent1"/>
                </a:solidFill>
              </a:rPr>
              <a:t> t = time(NULL);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struct tm </a:t>
            </a:r>
            <a:r>
              <a:rPr lang="en-US" sz="1100" b="1" dirty="0" err="1">
                <a:solidFill>
                  <a:schemeClr val="accent1"/>
                </a:solidFill>
              </a:rPr>
              <a:t>tm</a:t>
            </a:r>
            <a:r>
              <a:rPr lang="en-US" sz="1100" b="1" dirty="0">
                <a:solidFill>
                  <a:schemeClr val="accent1"/>
                </a:solidFill>
              </a:rPr>
              <a:t> = *</a:t>
            </a:r>
            <a:r>
              <a:rPr lang="en-US" sz="1100" b="1" dirty="0" err="1">
                <a:solidFill>
                  <a:schemeClr val="accent1"/>
                </a:solidFill>
              </a:rPr>
              <a:t>gmtime</a:t>
            </a:r>
            <a:r>
              <a:rPr lang="en-US" sz="1100" b="1" dirty="0">
                <a:solidFill>
                  <a:schemeClr val="accent1"/>
                </a:solidFill>
              </a:rPr>
              <a:t>(&amp;t);  // Get UTC time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// Add 5 hours for PKT (Pakistan Time)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tm.tm_hour</a:t>
            </a:r>
            <a:r>
              <a:rPr lang="en-US" sz="1100" b="1" dirty="0">
                <a:solidFill>
                  <a:schemeClr val="accent1"/>
                </a:solidFill>
              </a:rPr>
              <a:t> += 5;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if (</a:t>
            </a:r>
            <a:r>
              <a:rPr lang="en-US" sz="1100" b="1" dirty="0" err="1">
                <a:solidFill>
                  <a:schemeClr val="accent1"/>
                </a:solidFill>
              </a:rPr>
              <a:t>tm.tm_hour</a:t>
            </a:r>
            <a:r>
              <a:rPr lang="en-US" sz="1100" b="1" dirty="0">
                <a:solidFill>
                  <a:schemeClr val="accent1"/>
                </a:solidFill>
              </a:rPr>
              <a:t> &gt;= 24)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tm.tm_hour</a:t>
            </a:r>
            <a:r>
              <a:rPr lang="en-US" sz="1100" b="1" dirty="0">
                <a:solidFill>
                  <a:schemeClr val="accent1"/>
                </a:solidFill>
              </a:rPr>
              <a:t> -= 24;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tm.tm_mday</a:t>
            </a:r>
            <a:r>
              <a:rPr lang="en-US" sz="1100" b="1" dirty="0">
                <a:solidFill>
                  <a:schemeClr val="accent1"/>
                </a:solidFill>
              </a:rPr>
              <a:t> += 1;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}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sprintf</a:t>
            </a:r>
            <a:r>
              <a:rPr lang="en-US" sz="1100" b="1" dirty="0">
                <a:solidFill>
                  <a:schemeClr val="accent1"/>
                </a:solidFill>
              </a:rPr>
              <a:t>(datetime, "%02d/%02d/%04d %02d:%02d:%02d",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tm.tm_mday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tm.tm_mon</a:t>
            </a:r>
            <a:r>
              <a:rPr lang="en-US" sz="1100" b="1" dirty="0">
                <a:solidFill>
                  <a:schemeClr val="accent1"/>
                </a:solidFill>
              </a:rPr>
              <a:t> + 1, </a:t>
            </a:r>
            <a:r>
              <a:rPr lang="en-US" sz="1100" b="1" dirty="0" err="1">
                <a:solidFill>
                  <a:schemeClr val="accent1"/>
                </a:solidFill>
              </a:rPr>
              <a:t>tm.tm_year</a:t>
            </a:r>
            <a:r>
              <a:rPr lang="en-US" sz="1100" b="1" dirty="0">
                <a:solidFill>
                  <a:schemeClr val="accent1"/>
                </a:solidFill>
              </a:rPr>
              <a:t> + 1900,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tm.tm_hour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tm.tm_min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  <a:r>
              <a:rPr lang="en-US" sz="1100" b="1" dirty="0" err="1">
                <a:solidFill>
                  <a:schemeClr val="accent1"/>
                </a:solidFill>
              </a:rPr>
              <a:t>tm.tm_sec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}</a:t>
            </a:r>
          </a:p>
          <a:p>
            <a:r>
              <a:rPr lang="en-US" sz="1600" b="1" dirty="0">
                <a:solidFill>
                  <a:srgbClr val="156082"/>
                </a:solidFill>
              </a:rPr>
              <a:t>Transaction Logging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void </a:t>
            </a:r>
            <a:r>
              <a:rPr lang="en-US" sz="1100" b="1" dirty="0" err="1">
                <a:solidFill>
                  <a:schemeClr val="accent1"/>
                </a:solidFill>
              </a:rPr>
              <a:t>logTransaction</a:t>
            </a:r>
            <a:r>
              <a:rPr lang="en-US" sz="1100" b="1" dirty="0">
                <a:solidFill>
                  <a:schemeClr val="accent1"/>
                </a:solidFill>
              </a:rPr>
              <a:t>(int </a:t>
            </a:r>
            <a:r>
              <a:rPr lang="en-US" sz="1100" b="1" dirty="0" err="1">
                <a:solidFill>
                  <a:schemeClr val="accent1"/>
                </a:solidFill>
              </a:rPr>
              <a:t>account_number</a:t>
            </a:r>
            <a:r>
              <a:rPr lang="en-US" sz="1100" b="1" dirty="0">
                <a:solidFill>
                  <a:schemeClr val="accent1"/>
                </a:solidFill>
              </a:rPr>
              <a:t>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const char *type,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float amount,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       float </a:t>
            </a:r>
            <a:r>
              <a:rPr lang="en-US" sz="1100" b="1" dirty="0" err="1">
                <a:solidFill>
                  <a:schemeClr val="accent1"/>
                </a:solidFill>
              </a:rPr>
              <a:t>new_balance</a:t>
            </a:r>
            <a:r>
              <a:rPr lang="en-US" sz="1100" b="1" dirty="0">
                <a:solidFill>
                  <a:schemeClr val="accent1"/>
                </a:solidFill>
              </a:rPr>
              <a:t>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char filename[50];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</a:t>
            </a:r>
            <a:r>
              <a:rPr lang="en-US" sz="1100" b="1" dirty="0" err="1">
                <a:solidFill>
                  <a:schemeClr val="accent1"/>
                </a:solidFill>
              </a:rPr>
              <a:t>sprintf</a:t>
            </a:r>
            <a:r>
              <a:rPr lang="en-US" sz="1100" b="1" dirty="0">
                <a:solidFill>
                  <a:schemeClr val="accent1"/>
                </a:solidFill>
              </a:rPr>
              <a:t>(filename, "transactions_%d.txt", </a:t>
            </a:r>
            <a:r>
              <a:rPr lang="en-US" sz="1100" b="1" dirty="0" err="1">
                <a:solidFill>
                  <a:schemeClr val="accent1"/>
                </a:solidFill>
              </a:rPr>
              <a:t>account_number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FILE *file = </a:t>
            </a:r>
            <a:r>
              <a:rPr lang="en-US" sz="1100" b="1" dirty="0" err="1">
                <a:solidFill>
                  <a:schemeClr val="accent1"/>
                </a:solidFill>
              </a:rPr>
              <a:t>fopen</a:t>
            </a:r>
            <a:r>
              <a:rPr lang="en-US" sz="1100" b="1" dirty="0">
                <a:solidFill>
                  <a:schemeClr val="accent1"/>
                </a:solidFill>
              </a:rPr>
              <a:t>(filename, "a");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if (file) {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char datetime[20];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getCurrentDateTime</a:t>
            </a:r>
            <a:r>
              <a:rPr lang="en-US" sz="1100" b="1" dirty="0">
                <a:solidFill>
                  <a:schemeClr val="accent1"/>
                </a:solidFill>
              </a:rPr>
              <a:t>(datetime); 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fprintf</a:t>
            </a:r>
            <a:r>
              <a:rPr lang="en-US" sz="1100" b="1" dirty="0">
                <a:solidFill>
                  <a:schemeClr val="accent1"/>
                </a:solidFill>
              </a:rPr>
              <a:t>(file, "%s: %s %.2f, Balance: %.2f\n", 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    datetime, type, amount, </a:t>
            </a:r>
            <a:r>
              <a:rPr lang="en-US" sz="1100" b="1" dirty="0" err="1">
                <a:solidFill>
                  <a:schemeClr val="accent1"/>
                </a:solidFill>
              </a:rPr>
              <a:t>new_balance</a:t>
            </a:r>
            <a:r>
              <a:rPr lang="en-US" sz="1100" b="1" dirty="0">
                <a:solidFill>
                  <a:schemeClr val="accent1"/>
                </a:solidFill>
              </a:rPr>
              <a:t>);</a:t>
            </a:r>
          </a:p>
          <a:p>
            <a:r>
              <a:rPr lang="en-US" sz="1100" b="1" dirty="0">
                <a:solidFill>
                  <a:schemeClr val="accent1"/>
                </a:solidFill>
              </a:rPr>
              <a:t>        </a:t>
            </a:r>
            <a:r>
              <a:rPr lang="en-US" sz="1100" b="1" dirty="0" err="1">
                <a:solidFill>
                  <a:schemeClr val="accent1"/>
                </a:solidFill>
              </a:rPr>
              <a:t>fclose</a:t>
            </a:r>
            <a:r>
              <a:rPr lang="en-US" sz="1100" b="1" dirty="0">
                <a:solidFill>
                  <a:schemeClr val="accent1"/>
                </a:solidFill>
              </a:rPr>
              <a:t>(file);}}</a:t>
            </a:r>
          </a:p>
        </p:txBody>
      </p:sp>
    </p:spTree>
    <p:extLst>
      <p:ext uri="{BB962C8B-B14F-4D97-AF65-F5344CB8AC3E}">
        <p14:creationId xmlns:p14="http://schemas.microsoft.com/office/powerpoint/2010/main" val="2070417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CCEE8-5614-1B6D-E479-21C59363D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535F1-84A3-2A0D-A699-222736A25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932" y="600621"/>
            <a:ext cx="6334630" cy="889516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File Handling Implementation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7AA832-0163-FB28-1F53-C83E7EBB7903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File Handling Implementation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4ED46CC-A29F-6C94-75C1-0DF4C369F8F5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FD6760B-47EC-6F47-C13C-0383934F3BBF}"/>
              </a:ext>
            </a:extLst>
          </p:cNvPr>
          <p:cNvSpPr txBox="1"/>
          <p:nvPr/>
        </p:nvSpPr>
        <p:spPr>
          <a:xfrm>
            <a:off x="721894" y="1604210"/>
            <a:ext cx="55826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Account File Structure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File: </a:t>
            </a:r>
            <a:r>
              <a:rPr lang="en-US" b="1" dirty="0"/>
              <a:t>accounts.txt</a:t>
            </a:r>
            <a:r>
              <a:rPr lang="en-US" dirty="0"/>
              <a:t> (main database)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CSV format per line: </a:t>
            </a:r>
            <a:r>
              <a:rPr lang="en-US" dirty="0" err="1"/>
              <a:t>name,father_name,mobile,address,password,account_number,balance</a:t>
            </a:r>
            <a:endParaRPr lang="en-US" dirty="0"/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Example entry: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Ali,Ahmad,03001234567,Karachi,pass123,1001,2500.00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Each field separated by comma for easy parsing</a:t>
            </a:r>
          </a:p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97F8B-732F-9301-3A03-4537F75EF70B}"/>
              </a:ext>
            </a:extLst>
          </p:cNvPr>
          <p:cNvSpPr txBox="1"/>
          <p:nvPr/>
        </p:nvSpPr>
        <p:spPr>
          <a:xfrm>
            <a:off x="6095999" y="1604210"/>
            <a:ext cx="59676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Transaction Files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File naming: </a:t>
            </a:r>
            <a:r>
              <a:rPr lang="en-US" b="1" dirty="0"/>
              <a:t>transactions_[account_number].txt</a:t>
            </a:r>
            <a:endParaRPr lang="en-US" dirty="0"/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Separate transaction file for each account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Format: datetime, transaction type, amount, new balance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Example entry: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05/11/2025 14:32:10: Deposit 2000.00, Balance: 4500.00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Pakistan Time (UTC+5) timestamps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to temp.txt → Remove original → Rename temp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9602AA-F17D-FD7E-7F64-BF2E0C880F22}"/>
              </a:ext>
            </a:extLst>
          </p:cNvPr>
          <p:cNvSpPr txBox="1"/>
          <p:nvPr/>
        </p:nvSpPr>
        <p:spPr>
          <a:xfrm>
            <a:off x="513343" y="4250972"/>
            <a:ext cx="53741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File Operations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Read operations: </a:t>
            </a:r>
            <a:r>
              <a:rPr lang="en-US" b="1" dirty="0" err="1"/>
              <a:t>fgets</a:t>
            </a:r>
            <a:r>
              <a:rPr lang="en-US" b="1" dirty="0"/>
              <a:t>() + </a:t>
            </a:r>
            <a:r>
              <a:rPr lang="en-US" b="1" dirty="0" err="1"/>
              <a:t>sscanf</a:t>
            </a:r>
            <a:r>
              <a:rPr lang="en-US" b="1" dirty="0"/>
              <a:t>()</a:t>
            </a:r>
            <a:endParaRPr lang="en-US" dirty="0"/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Parse CSV data into Account struct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Write/Append: </a:t>
            </a:r>
            <a:r>
              <a:rPr lang="en-US" b="1" dirty="0" err="1"/>
              <a:t>fprintf</a:t>
            </a:r>
            <a:r>
              <a:rPr lang="en-US" b="1" dirty="0"/>
              <a:t>()</a:t>
            </a:r>
            <a:endParaRPr lang="en-US" dirty="0"/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Add new account or transaction records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Update operations: Temp file swap method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Read original  Write modified to temp.txt → Remove original → Rename temp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115A53-A3F8-0E98-F1C4-FDDCC5ADA893}"/>
              </a:ext>
            </a:extLst>
          </p:cNvPr>
          <p:cNvSpPr txBox="1"/>
          <p:nvPr/>
        </p:nvSpPr>
        <p:spPr>
          <a:xfrm>
            <a:off x="6095999" y="4511658"/>
            <a:ext cx="53741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Implementation Details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File existence check before operations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Duplicate mobile number check during account creation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Persistent data across program restarts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File cleanup on account deletion</a:t>
            </a:r>
          </a:p>
          <a:p>
            <a:pPr marL="742950" lvl="1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Removes both account and transaction history</a:t>
            </a:r>
          </a:p>
        </p:txBody>
      </p:sp>
    </p:spTree>
    <p:extLst>
      <p:ext uri="{BB962C8B-B14F-4D97-AF65-F5344CB8AC3E}">
        <p14:creationId xmlns:p14="http://schemas.microsoft.com/office/powerpoint/2010/main" val="1738926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4005D-0D5C-40F2-D4DC-88A872151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A82B4-3481-DAAC-538A-950BAEBC0C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2431" y="846333"/>
            <a:ext cx="2984370" cy="58913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56082"/>
                </a:solidFill>
              </a:rPr>
              <a:t>Testing Results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5F3E65-D0EC-F489-4B53-520BD125D9B2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Testing Results</a:t>
            </a:r>
          </a:p>
          <a:p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2E6DC7-BD38-3815-8DFF-B558BD0F877C}"/>
              </a:ext>
            </a:extLst>
          </p:cNvPr>
          <p:cNvCxnSpPr/>
          <p:nvPr/>
        </p:nvCxnSpPr>
        <p:spPr>
          <a:xfrm>
            <a:off x="802932" y="1420427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47395EA-0512-8554-E9BD-7ABA96106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524726"/>
              </p:ext>
            </p:extLst>
          </p:nvPr>
        </p:nvGraphicFramePr>
        <p:xfrm>
          <a:off x="1187301" y="1604210"/>
          <a:ext cx="9952076" cy="3220602"/>
        </p:xfrm>
        <a:graphic>
          <a:graphicData uri="http://schemas.openxmlformats.org/drawingml/2006/table">
            <a:tbl>
              <a:tblPr/>
              <a:tblGrid>
                <a:gridCol w="497604">
                  <a:extLst>
                    <a:ext uri="{9D8B030D-6E8A-4147-A177-3AD203B41FA5}">
                      <a16:colId xmlns:a16="http://schemas.microsoft.com/office/drawing/2014/main" val="3904375302"/>
                    </a:ext>
                  </a:extLst>
                </a:gridCol>
                <a:gridCol w="2488020">
                  <a:extLst>
                    <a:ext uri="{9D8B030D-6E8A-4147-A177-3AD203B41FA5}">
                      <a16:colId xmlns:a16="http://schemas.microsoft.com/office/drawing/2014/main" val="2527922985"/>
                    </a:ext>
                  </a:extLst>
                </a:gridCol>
                <a:gridCol w="2786580">
                  <a:extLst>
                    <a:ext uri="{9D8B030D-6E8A-4147-A177-3AD203B41FA5}">
                      <a16:colId xmlns:a16="http://schemas.microsoft.com/office/drawing/2014/main" val="564660848"/>
                    </a:ext>
                  </a:extLst>
                </a:gridCol>
                <a:gridCol w="2786580">
                  <a:extLst>
                    <a:ext uri="{9D8B030D-6E8A-4147-A177-3AD203B41FA5}">
                      <a16:colId xmlns:a16="http://schemas.microsoft.com/office/drawing/2014/main" val="1813379351"/>
                    </a:ext>
                  </a:extLst>
                </a:gridCol>
                <a:gridCol w="1393292">
                  <a:extLst>
                    <a:ext uri="{9D8B030D-6E8A-4147-A177-3AD203B41FA5}">
                      <a16:colId xmlns:a16="http://schemas.microsoft.com/office/drawing/2014/main" val="1850547966"/>
                    </a:ext>
                  </a:extLst>
                </a:gridCol>
              </a:tblGrid>
              <a:tr h="2068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#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</a:rPr>
                        <a:t>Test Case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Input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Expected Output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76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</a:rPr>
                        <a:t>Status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376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868683"/>
                  </a:ext>
                </a:extLst>
              </a:tr>
              <a:tr h="404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1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Login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Mobile Number &amp; Password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User Menu displayed after successful login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195504"/>
                  </a:ext>
                </a:extLst>
              </a:tr>
              <a:tr h="5215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2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Create Account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Name, Father's name, Mobile number, Address, Password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Account created and stored in file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4383428"/>
                  </a:ext>
                </a:extLst>
              </a:tr>
              <a:tr h="287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3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Check Balance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Click "Check Balance" button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Current balance displayed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2728590"/>
                  </a:ext>
                </a:extLst>
              </a:tr>
              <a:tr h="4046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4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Update Information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New name, father's name, address, password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Information updated in database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051772"/>
                  </a:ext>
                </a:extLst>
              </a:tr>
              <a:tr h="287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5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Delete Account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Password confirmation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Account record deleted from file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9035768"/>
                  </a:ext>
                </a:extLst>
              </a:tr>
              <a:tr h="287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6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Deposit Money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Amount to deposit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Balance increased, transaction logged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88037"/>
                  </a:ext>
                </a:extLst>
              </a:tr>
              <a:tr h="287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7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Withdraw Money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Amount to withdraw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Balance decreased if amount valid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67605"/>
                  </a:ext>
                </a:extLst>
              </a:tr>
              <a:tr h="2878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8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Transaction History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Click "View History" button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All transaction records displayed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017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>
                          <a:solidFill>
                            <a:srgbClr val="19376D"/>
                          </a:solidFill>
                          <a:effectLst/>
                        </a:rPr>
                        <a:t>9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dirty="0">
                          <a:effectLst/>
                        </a:rPr>
                        <a:t>Logout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Click "Logout" button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>
                          <a:effectLst/>
                        </a:rPr>
                        <a:t>Return to login page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effectLst/>
                        </a:rPr>
                        <a:t>Passed</a:t>
                      </a:r>
                    </a:p>
                  </a:txBody>
                  <a:tcPr marL="36456" marR="36456" marT="36456" marB="3645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7527152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02DC5D9-8B35-6B3F-89EF-1C13E97F5D90}"/>
              </a:ext>
            </a:extLst>
          </p:cNvPr>
          <p:cNvSpPr txBox="1"/>
          <p:nvPr/>
        </p:nvSpPr>
        <p:spPr>
          <a:xfrm>
            <a:off x="1049078" y="4857469"/>
            <a:ext cx="1022852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sz="1100" b="1" i="0" dirty="0">
                <a:solidFill>
                  <a:srgbClr val="19376D"/>
                </a:solidFill>
                <a:effectLst/>
                <a:latin typeface="Montserrat" panose="00000500000000000000" pitchFamily="2" charset="0"/>
              </a:rPr>
              <a:t>Key Interface Screens Verified</a:t>
            </a:r>
          </a:p>
          <a:p>
            <a:pPr algn="l"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The testing process verified all core functionality screens, including account creation, balance check, deposits, withdrawals with security verification for amounts over 5000, transaction history display, and account information updates.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24B413-E61E-F9FA-0265-45B16F5EE165}"/>
              </a:ext>
            </a:extLst>
          </p:cNvPr>
          <p:cNvSpPr txBox="1"/>
          <p:nvPr/>
        </p:nvSpPr>
        <p:spPr>
          <a:xfrm>
            <a:off x="6705600" y="5557157"/>
            <a:ext cx="5829300" cy="1962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</a:pPr>
            <a:r>
              <a:rPr lang="en-US" sz="1200" b="1" dirty="0">
                <a:solidFill>
                  <a:schemeClr val="accent1"/>
                </a:solidFill>
                <a:latin typeface="Montserrat" panose="00000500000000000000" pitchFamily="2" charset="0"/>
              </a:rPr>
              <a:t>Account Management</a:t>
            </a:r>
          </a:p>
          <a:p>
            <a:pPr>
              <a:spcBef>
                <a:spcPts val="1500"/>
              </a:spcBef>
            </a:pPr>
            <a:r>
              <a:rPr lang="en-US" sz="1200" dirty="0">
                <a:solidFill>
                  <a:srgbClr val="000000"/>
                </a:solidFill>
                <a:latin typeface="Montserrat" panose="00000500000000000000" pitchFamily="2" charset="0"/>
              </a:rPr>
              <a:t>Login, Create Account, Update Info, Delete Account screens all provide appropriate feedback and perform the expected data operations.</a:t>
            </a:r>
          </a:p>
          <a:p>
            <a:pPr>
              <a:spcBef>
                <a:spcPts val="1500"/>
              </a:spcBef>
            </a:pPr>
            <a:r>
              <a:rPr lang="en-US" sz="1200" b="1" dirty="0">
                <a:solidFill>
                  <a:srgbClr val="19376D"/>
                </a:solidFill>
                <a:latin typeface="Montserrat" panose="00000500000000000000" pitchFamily="2" charset="0"/>
              </a:rPr>
              <a:t>Status: Fully Functional</a:t>
            </a:r>
          </a:p>
          <a:p>
            <a:pPr>
              <a:spcBef>
                <a:spcPts val="1500"/>
              </a:spcBef>
            </a:pPr>
            <a:endParaRPr lang="en-US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/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68E72D-8635-FE00-972E-872DE5780FED}"/>
              </a:ext>
            </a:extLst>
          </p:cNvPr>
          <p:cNvSpPr txBox="1"/>
          <p:nvPr/>
        </p:nvSpPr>
        <p:spPr>
          <a:xfrm>
            <a:off x="1049079" y="5403808"/>
            <a:ext cx="5294572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500"/>
              </a:spcBef>
            </a:pPr>
            <a:r>
              <a:rPr lang="en-US" sz="1200" b="1" dirty="0">
                <a:solidFill>
                  <a:srgbClr val="19376D"/>
                </a:solidFill>
                <a:latin typeface="Montserrat" panose="00000500000000000000" pitchFamily="2" charset="0"/>
              </a:rPr>
              <a:t>Financial Operations</a:t>
            </a:r>
          </a:p>
          <a:p>
            <a:pPr>
              <a:spcBef>
                <a:spcPts val="1500"/>
              </a:spcBef>
            </a:pPr>
            <a:r>
              <a:rPr lang="en-US" sz="1200" dirty="0">
                <a:solidFill>
                  <a:srgbClr val="000000"/>
                </a:solidFill>
                <a:latin typeface="Montserrat" panose="00000500000000000000" pitchFamily="2" charset="0"/>
              </a:rPr>
              <a:t>Deposit, Withdraw, Balance Check, and Transaction History screens correctly display and modify account data with proper verification.</a:t>
            </a:r>
          </a:p>
          <a:p>
            <a:pPr>
              <a:spcBef>
                <a:spcPts val="1500"/>
              </a:spcBef>
            </a:pPr>
            <a:r>
              <a:rPr lang="en-US" sz="1200" b="1" dirty="0">
                <a:solidFill>
                  <a:srgbClr val="19376D"/>
                </a:solidFill>
                <a:latin typeface="Montserrat" panose="00000500000000000000" pitchFamily="2" charset="0"/>
              </a:rPr>
              <a:t>Status: Fully Functional</a:t>
            </a:r>
          </a:p>
        </p:txBody>
      </p:sp>
    </p:spTree>
    <p:extLst>
      <p:ext uri="{BB962C8B-B14F-4D97-AF65-F5344CB8AC3E}">
        <p14:creationId xmlns:p14="http://schemas.microsoft.com/office/powerpoint/2010/main" val="12470414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48C06-EB53-BC0A-3F49-79913309B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0D6AD-C6E5-39FB-B2A4-B0D1E9BC68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3346" y="814044"/>
            <a:ext cx="9411111" cy="80210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156082"/>
                </a:solidFill>
              </a:rPr>
              <a:t>Limitations &amp; Challenges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8C395D-F3D1-48AE-4258-5238B24D9F62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</a:t>
            </a:r>
            <a:r>
              <a:rPr lang="en-US" dirty="0">
                <a:solidFill>
                  <a:schemeClr val="bg1"/>
                </a:solidFill>
              </a:rPr>
              <a:t>Limitations &amp; Challenges</a:t>
            </a:r>
            <a:endParaRPr lang="en-US" sz="2400" dirty="0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9832BFC-D78D-2C9C-1A8E-3429B04E4ADF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5F689E6-BA75-1CE7-989C-4193706FC14E}"/>
              </a:ext>
            </a:extLst>
          </p:cNvPr>
          <p:cNvSpPr txBox="1"/>
          <p:nvPr/>
        </p:nvSpPr>
        <p:spPr>
          <a:xfrm>
            <a:off x="409072" y="1852461"/>
            <a:ext cx="55826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Security Concerns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No encryption of credentials; plaintext storage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No 2-step verification for login authentication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Security questions only triggered for large withdrawals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Password complexity not enforced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92DE2B-1D31-879B-44A4-F275F8526FC4}"/>
              </a:ext>
            </a:extLst>
          </p:cNvPr>
          <p:cNvSpPr txBox="1"/>
          <p:nvPr/>
        </p:nvSpPr>
        <p:spPr>
          <a:xfrm>
            <a:off x="6095999" y="1852461"/>
            <a:ext cx="5967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Account Management Issues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Account deletion does not handle residual balance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Permanent deletion with no recovery window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Unlimited account creation allowed per user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No account lockout after failed login attempts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BABFB1-8EF3-FF22-46EF-E164B02E6853}"/>
              </a:ext>
            </a:extLst>
          </p:cNvPr>
          <p:cNvSpPr txBox="1"/>
          <p:nvPr/>
        </p:nvSpPr>
        <p:spPr>
          <a:xfrm>
            <a:off x="513344" y="4099620"/>
            <a:ext cx="537410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Technical Limitations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Simple PKT time offset (UTC+5) doesn't handle month/year rollover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File operations vulnerable to corruption during updates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No data backup or redundancy system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Limited input validation for address and name fields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70A2C-6B18-6046-85C2-D83EF14996A1}"/>
              </a:ext>
            </a:extLst>
          </p:cNvPr>
          <p:cNvSpPr txBox="1"/>
          <p:nvPr/>
        </p:nvSpPr>
        <p:spPr>
          <a:xfrm>
            <a:off x="5911517" y="4099620"/>
            <a:ext cx="615214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56082"/>
                </a:solidFill>
              </a:rPr>
              <a:t>User Experience Constraints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No password recovery mechanism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Limited transaction filtering and search capabilities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No recurring transaction or scheduled payment options</a:t>
            </a:r>
          </a:p>
          <a:p>
            <a:pPr marL="285750" indent="-285750"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Single-user system with no admin/staff roles</a:t>
            </a:r>
          </a:p>
        </p:txBody>
      </p:sp>
    </p:spTree>
    <p:extLst>
      <p:ext uri="{BB962C8B-B14F-4D97-AF65-F5344CB8AC3E}">
        <p14:creationId xmlns:p14="http://schemas.microsoft.com/office/powerpoint/2010/main" val="33868963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4BC47-5717-9753-2C84-0FD013D5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5532D-4E9A-F54E-6753-30E718AF6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203" y="715513"/>
            <a:ext cx="9411111" cy="802105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Project Summary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F712A-A13C-C42E-9055-8CC2653FBBCB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Bank Management System - Summary</a:t>
            </a:r>
            <a:endParaRPr lang="en-US" sz="2400" b="1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D8E3A0-C5E5-D69A-0AA5-7F27EC195686}"/>
              </a:ext>
            </a:extLst>
          </p:cNvPr>
          <p:cNvCxnSpPr/>
          <p:nvPr/>
        </p:nvCxnSpPr>
        <p:spPr>
          <a:xfrm>
            <a:off x="802932" y="1604210"/>
            <a:ext cx="1411705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69F42EB-4EA2-3620-1E38-31BDCB6B7D82}"/>
              </a:ext>
            </a:extLst>
          </p:cNvPr>
          <p:cNvSpPr txBox="1"/>
          <p:nvPr/>
        </p:nvSpPr>
        <p:spPr>
          <a:xfrm>
            <a:off x="496622" y="1604210"/>
            <a:ext cx="11198756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Successfully implemented a functional banking system with GUI using C and </a:t>
            </a:r>
            <a:r>
              <a:rPr lang="en-US" dirty="0" err="1"/>
              <a:t>Raylib</a:t>
            </a:r>
            <a:endParaRPr lang="en-US" dirty="0"/>
          </a:p>
          <a:p>
            <a:pPr marL="285750" indent="-285750">
              <a:lnSpc>
                <a:spcPct val="200000"/>
              </a:lnSpc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Demonstrated application of programming fundamentals: loops, arrays, structs, file handling, pointers</a:t>
            </a:r>
          </a:p>
          <a:p>
            <a:pPr marL="285750" indent="-285750">
              <a:lnSpc>
                <a:spcPct val="200000"/>
              </a:lnSpc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Created robust state management system with seamless user experience</a:t>
            </a:r>
          </a:p>
          <a:p>
            <a:pPr marL="285750" indent="-285750">
              <a:lnSpc>
                <a:spcPct val="200000"/>
              </a:lnSpc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Implemented persistent data storage with transaction history</a:t>
            </a:r>
          </a:p>
          <a:p>
            <a:pPr marL="285750" indent="-285750">
              <a:lnSpc>
                <a:spcPct val="200000"/>
              </a:lnSpc>
              <a:buClr>
                <a:srgbClr val="B4A700"/>
              </a:buClr>
              <a:buFont typeface="Arial" panose="020B0604020202020204" pitchFamily="34" charset="0"/>
              <a:buChar char="•"/>
            </a:pPr>
            <a:r>
              <a:rPr lang="en-US" dirty="0"/>
              <a:t>Developed security features for protecting financial transactions</a:t>
            </a:r>
          </a:p>
        </p:txBody>
      </p:sp>
    </p:spTree>
    <p:extLst>
      <p:ext uri="{BB962C8B-B14F-4D97-AF65-F5344CB8AC3E}">
        <p14:creationId xmlns:p14="http://schemas.microsoft.com/office/powerpoint/2010/main" val="28495454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8D1DE-7395-E8EA-6292-CD8124293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75ACEE8-45BC-F066-09D4-C4995EAB0181}"/>
              </a:ext>
            </a:extLst>
          </p:cNvPr>
          <p:cNvSpPr/>
          <p:nvPr/>
        </p:nvSpPr>
        <p:spPr>
          <a:xfrm>
            <a:off x="0" y="0"/>
            <a:ext cx="12192000" cy="802105"/>
          </a:xfrm>
          <a:prstGeom prst="rect">
            <a:avLst/>
          </a:prstGeom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/>
              <a:t>FAST National University of Computer &amp; Emerging Sciences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22D06E-415C-2A2C-BA92-56E7644E5DA4}"/>
              </a:ext>
            </a:extLst>
          </p:cNvPr>
          <p:cNvCxnSpPr>
            <a:cxnSpLocks/>
          </p:cNvCxnSpPr>
          <p:nvPr/>
        </p:nvCxnSpPr>
        <p:spPr>
          <a:xfrm>
            <a:off x="4940969" y="3330342"/>
            <a:ext cx="2951747" cy="0"/>
          </a:xfrm>
          <a:prstGeom prst="line">
            <a:avLst/>
          </a:prstGeom>
          <a:ln>
            <a:solidFill>
              <a:srgbClr val="B4A7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AB66DAB-9085-0D27-B90D-4D456FF491E8}"/>
              </a:ext>
            </a:extLst>
          </p:cNvPr>
          <p:cNvSpPr txBox="1"/>
          <p:nvPr/>
        </p:nvSpPr>
        <p:spPr>
          <a:xfrm>
            <a:off x="3720807" y="2413337"/>
            <a:ext cx="51248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15608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210657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28E1043A5A4084472F17DE319BA5" ma:contentTypeVersion="4" ma:contentTypeDescription="Create a new document." ma:contentTypeScope="" ma:versionID="4e7d25005f2ea193a976588b420814f6">
  <xsd:schema xmlns:xsd="http://www.w3.org/2001/XMLSchema" xmlns:xs="http://www.w3.org/2001/XMLSchema" xmlns:p="http://schemas.microsoft.com/office/2006/metadata/properties" xmlns:ns3="10e7d716-dc20-4398-9e31-26385343c274" targetNamespace="http://schemas.microsoft.com/office/2006/metadata/properties" ma:root="true" ma:fieldsID="779e8fecc1979cbf7d436af4740e479f" ns3:_="">
    <xsd:import namespace="10e7d716-dc20-4398-9e31-26385343c274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7d716-dc20-4398-9e31-26385343c274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425E153-D01C-49E3-98D3-5D93AC3537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e7d716-dc20-4398-9e31-26385343c2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0ADAA84-06EF-4D95-B297-32032DE8AF3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23F65D-ED53-4C17-8DAD-CCED6430C4CA}">
  <ds:schemaRefs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0e7d716-dc20-4398-9e31-26385343c274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4386</Words>
  <Application>Microsoft Office PowerPoint</Application>
  <PresentationFormat>Widescreen</PresentationFormat>
  <Paragraphs>690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Montserrat</vt:lpstr>
      <vt:lpstr>Office Theme</vt:lpstr>
      <vt:lpstr>Fast NUCES Karachi Department of AI and Data Science</vt:lpstr>
      <vt:lpstr>Abstract</vt:lpstr>
      <vt:lpstr>Introduction</vt:lpstr>
      <vt:lpstr>Project Objectives</vt:lpstr>
      <vt:lpstr>System Architecture &amp; Design</vt:lpstr>
      <vt:lpstr>Technology Stack</vt:lpstr>
      <vt:lpstr>Key Features Overview</vt:lpstr>
      <vt:lpstr>Data Structures Used</vt:lpstr>
      <vt:lpstr>Core Functionality: Account Creation</vt:lpstr>
      <vt:lpstr>Core Functionality: Login System</vt:lpstr>
      <vt:lpstr>User Menu Interface</vt:lpstr>
      <vt:lpstr>Balance Check &amp; Information Update</vt:lpstr>
      <vt:lpstr>Deposit Money Functionality</vt:lpstr>
      <vt:lpstr>Enhanced Security for Large Withdrawals</vt:lpstr>
      <vt:lpstr>Transaction History</vt:lpstr>
      <vt:lpstr>File Handling Implementation</vt:lpstr>
      <vt:lpstr>Testing Results</vt:lpstr>
      <vt:lpstr>Limitations &amp; Challenges</vt:lpstr>
      <vt:lpstr>Project 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K252501 Naresh Kumar</dc:creator>
  <cp:lastModifiedBy>K252501 Naresh Kumar</cp:lastModifiedBy>
  <cp:revision>2</cp:revision>
  <dcterms:created xsi:type="dcterms:W3CDTF">2025-11-19T18:23:36Z</dcterms:created>
  <dcterms:modified xsi:type="dcterms:W3CDTF">2025-11-21T17:56:45Z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0x010100F38928E1043A5A4084472F17DE319BA5</vt:lpwstr>
  </property>
</Properties>
</file>